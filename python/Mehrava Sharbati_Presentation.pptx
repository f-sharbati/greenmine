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5.jpg" ContentType="image/jpeg"/>
  <Override PartName="/ppt/notesSlides/notesSlide4.xml" ContentType="application/vnd.openxmlformats-officedocument.presentationml.notesSlide+xml"/>
  <Override PartName="/ppt/media/image6.jpg" ContentType="image/jpe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media/image21.jpg" ContentType="image/jpeg"/>
  <Override PartName="/ppt/media/image22.jpg" ContentType="image/jpeg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media/image24.jpg" ContentType="image/jpeg"/>
  <Override PartName="/ppt/media/image25.jpg" ContentType="image/jpeg"/>
  <Override PartName="/ppt/media/image26.jpg" ContentType="image/jpeg"/>
  <Override PartName="/ppt/notesSlides/notesSlide27.xml" ContentType="application/vnd.openxmlformats-officedocument.presentationml.notesSlide+xml"/>
  <Override PartName="/ppt/media/image27.jpg" ContentType="image/jpeg"/>
  <Override PartName="/ppt/media/image28.jpg" ContentType="image/jpeg"/>
  <Override PartName="/ppt/notesSlides/notesSlide28.xml" ContentType="application/vnd.openxmlformats-officedocument.presentationml.notesSlide+xml"/>
  <Override PartName="/ppt/media/image30.jpg" ContentType="image/jpeg"/>
  <Override PartName="/ppt/media/image31.jpg" ContentType="image/jpeg"/>
  <Override PartName="/ppt/notesSlides/notesSlide29.xml" ContentType="application/vnd.openxmlformats-officedocument.presentationml.notesSlide+xml"/>
  <Override PartName="/ppt/media/image33.jpg" ContentType="image/jpeg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73" r:id="rId5"/>
    <p:sldId id="260" r:id="rId6"/>
    <p:sldId id="261" r:id="rId7"/>
    <p:sldId id="274" r:id="rId8"/>
    <p:sldId id="275" r:id="rId9"/>
    <p:sldId id="276" r:id="rId10"/>
    <p:sldId id="277" r:id="rId11"/>
    <p:sldId id="263" r:id="rId12"/>
    <p:sldId id="278" r:id="rId13"/>
    <p:sldId id="279" r:id="rId14"/>
    <p:sldId id="264" r:id="rId15"/>
    <p:sldId id="265" r:id="rId16"/>
    <p:sldId id="266" r:id="rId17"/>
    <p:sldId id="280" r:id="rId18"/>
    <p:sldId id="267" r:id="rId19"/>
    <p:sldId id="281" r:id="rId20"/>
    <p:sldId id="282" r:id="rId21"/>
    <p:sldId id="268" r:id="rId22"/>
    <p:sldId id="269" r:id="rId23"/>
    <p:sldId id="270" r:id="rId24"/>
    <p:sldId id="283" r:id="rId25"/>
    <p:sldId id="271" r:id="rId26"/>
    <p:sldId id="284" r:id="rId27"/>
    <p:sldId id="285" r:id="rId28"/>
    <p:sldId id="286" r:id="rId29"/>
    <p:sldId id="287" r:id="rId30"/>
    <p:sldId id="272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شروع ارائه" id="{013046E0-941C-F5B4-D56A-9C5E20070DDB}">
          <p14:sldIdLst>
            <p14:sldId id="257"/>
            <p14:sldId id="258"/>
          </p14:sldIdLst>
        </p14:section>
        <p14:section name="مسئله و اهداف" id="{0F95B275-2D3E-66F8-EA9F-9C9B48E0EB15}">
          <p14:sldIdLst>
            <p14:sldId id="259"/>
            <p14:sldId id="273"/>
            <p14:sldId id="260"/>
            <p14:sldId id="261"/>
            <p14:sldId id="274"/>
          </p14:sldIdLst>
        </p14:section>
        <p14:section name="روش و نتایج" id="{5942D452-B9B4-2477-153B-D3CBE8390860}">
          <p14:sldIdLst>
            <p14:sldId id="275"/>
            <p14:sldId id="276"/>
            <p14:sldId id="277"/>
            <p14:sldId id="263"/>
            <p14:sldId id="278"/>
            <p14:sldId id="279"/>
            <p14:sldId id="264"/>
            <p14:sldId id="265"/>
            <p14:sldId id="266"/>
            <p14:sldId id="280"/>
            <p14:sldId id="267"/>
            <p14:sldId id="281"/>
            <p14:sldId id="282"/>
            <p14:sldId id="268"/>
            <p14:sldId id="269"/>
          </p14:sldIdLst>
        </p14:section>
        <p14:section name="جمع‌بندی" id="{D389AE71-2F6A-EE2E-AD11-9841866BD897}">
          <p14:sldIdLst>
            <p14:sldId id="270"/>
            <p14:sldId id="283"/>
            <p14:sldId id="271"/>
            <p14:sldId id="284"/>
            <p14:sldId id="285"/>
            <p14:sldId id="286"/>
            <p14:sldId id="287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B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13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2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4662-3F01-77BA-77A7-A8F664E2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FDB61-4EF5-F461-CE97-9C7499988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0F569-340A-DAE0-42EC-AA4BA6D2C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6D9192-0191-02BA-39F5-E233C3AD9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288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C24F-A252-6617-F94E-77DE52A3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D87BD-ACB3-54C4-8EC0-5C3B2BE8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E8286-58CC-1F9D-839F-ACC93F9F5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AE8E6-33A6-C066-9FD2-3DC3C9A722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866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7DA5-3408-2703-845E-9D4D27E6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0AE40-7963-D33B-D1B8-3EA3B8423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E6784-DC02-125A-39B7-E8C25471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2709-E1BC-F842-ECE4-1586A54C81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03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E8089-CCF6-9040-DA55-F9C83A69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7B6CA-70FD-1981-3428-8F4F4A145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0D291-EC18-52C2-6E0E-9FEBDB057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E794A-336C-8D74-4459-183360E06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34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5D24-BA23-87B7-2A77-3C124EB4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6601C-0ECA-0602-DED5-6054B6A45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133ED-B13D-3CC7-FDD4-A04A9B416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F20DB-98E9-5E74-3DD4-C5F45D1EB6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92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F4860-9FEE-F9D7-7EBA-21081C446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FD4FF-3C57-AB71-61B9-220344931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E2A1A-FFEB-3730-4A1C-080659249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8C205-1657-C110-FC47-9DF4613C5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74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1429-62CA-6625-5A52-BF9C9F9A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75C60-9247-5F6B-9AA4-156E1F615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3483A-C164-E23B-33E1-8AD14F99F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0937-FDC8-647A-AC86-A22473500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9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F1F86-756C-1C1F-E57C-462F2828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B5AB63-A652-C98B-71AF-1724F88E8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2CD3A-ACD3-9478-0E51-DF28FF461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ED7F2-2EAC-EFD6-9CB0-07C2405CAC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00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77B5C-EF04-6692-511C-E3D29C5D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74CBA-C06E-C1E5-F7C8-FE300AEED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5A602-30C4-099F-0B9E-4DAE75358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35262-F0BA-F8D6-4389-0BFE53928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418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38C3F-D738-C7A0-60D9-0BC7ABFA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3DFAF-348D-0702-9682-FE0BC23FA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01F2-F4C1-6F2D-EEF4-97DC1A5DE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21EB8-E200-4D9E-1777-CA488F8F40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71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62A8-AF30-ED0F-53A5-C28FB9FE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BA8E0-E72E-C684-A008-39C564C48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3C659-09F4-36E1-C47D-4896614A3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12F07-1CE3-487E-3D6D-0A1009DAC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61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7C2A2-4412-69F3-B566-BC4DF212E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00664-276C-39FA-5E32-4EB821F00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9293C-78EF-A2F6-7DE2-FEB4208F4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6DEEB-4E6C-1C73-9833-4180292F70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766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87DA8-FBBF-2308-1B35-0E39ABA9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A2772-9C72-E77C-E1A3-12F94E153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AE403-52DD-0497-09AD-D35EBA64E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3E14F-F745-F133-B3F3-2C06DE9B9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974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33B5-1F30-7AF0-69FA-FC912DD28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2E35C-0755-D4D7-EC08-9E24D7FC7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EEADA-5FCA-EB36-4CE5-F4715F309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500D0-6D15-29CD-9B23-2229E4917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877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62473-D1CA-50A0-D196-D4C1C958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89FD5B-7B29-A598-B55D-EF6564F2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64486-002B-922C-36A7-72CF6A2A7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نکات تکمیلی برای سرداور: توضیحاتی را که سرداور هنگام دفاع از این اسلاید باید بگوید اینجا بنویسید (نکات کلیدی، اعداد مهم، پاسخ به پرسش‌های احتمالی داوران).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E280E-A1BB-67E2-B996-6E58AD103C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564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2743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/home/claude/build/assets/fest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"/>
            <a:ext cx="630022" cy="685800"/>
          </a:xfrm>
          <a:prstGeom prst="rect">
            <a:avLst/>
          </a:prstGeom>
        </p:spPr>
      </p:pic>
      <p:pic>
        <p:nvPicPr>
          <p:cNvPr id="5" name="Image 1" descr="/home/claude/build/assets/emble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"/>
            <a:ext cx="617220" cy="5943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86800" y="246888"/>
            <a:ext cx="64008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en-US" sz="2000" b="1" dirty="0">
                <a:solidFill>
                  <a:schemeClr val="tx2"/>
                </a:solidFill>
              </a:defRPr>
            </a:lvl1pPr>
          </a:lstStyle>
          <a:p>
            <a:pPr marL="0" indent="0" algn="r">
              <a:buNone/>
            </a:pPr>
            <a:endParaRPr lang="en-US" sz="2000" dirty="0"/>
          </a:p>
        </p:txBody>
      </p:sp>
      <p:sp>
        <p:nvSpPr>
          <p:cNvPr id="8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005840" y="48691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a-IR" altLang="en-US" sz="900" dirty="0">
                <a:solidFill>
                  <a:schemeClr val="bg1"/>
                </a:solidFill>
              </a:rPr>
              <a:t>بیست و هشتمین جشنواره جوان خوارزمی (بخش دانش‌آموزی)  |  گروه علمی کامپیوتر  |  ۱۴۰۵</a:t>
            </a:r>
            <a:endParaRPr lang="fa-IR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29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/home/claude/build/assets/fest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"/>
            <a:ext cx="2011680" cy="2194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2880360"/>
            <a:ext cx="219456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pic>
        <p:nvPicPr>
          <p:cNvPr id="6" name="Image 1" descr="/home/claude/build/assets/samp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154680"/>
            <a:ext cx="1481328" cy="987552"/>
          </a:xfrm>
          <a:prstGeom prst="rect">
            <a:avLst/>
          </a:prstGeom>
        </p:spPr>
      </p:pic>
      <p:pic>
        <p:nvPicPr>
          <p:cNvPr id="7" name="Image 2" descr="/home/claude/build/assets/re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200400"/>
            <a:ext cx="832104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ms.iiia.ir/main_config/upload/other/files/Booltan%20Fin%20Red-%20summer%201404(1)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a.dotic.ir/uploads/org/2026/09/27/179049617587767600.pdf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://www.greenmineapp.ir/" TargetMode="External"/><Relationship Id="rId7" Type="http://schemas.openxmlformats.org/officeDocument/2006/relationships/hyperlink" Target="https://drive.google.com/file/d/1-Vuhg1EpMjK1OamFPw0CtKOX40u2T96C/view?usp=GreenMine.mp4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hyperlink" Target="https://drive.google.com/file/d/1hsiiZ7k1Ij1fhRGz5pSlxTdTGdbyo_J7/view?usp=Presentation.mp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rena.org/publications/2024/Sep/Renewable-Power-Generation-Costs-in-2023" TargetMode="External"/><Relationship Id="rId3" Type="http://schemas.openxmlformats.org/officeDocument/2006/relationships/hyperlink" Target="https://www.jemat.org/article_189315_4ab2d0b8523e26c2a93c9876d5a74834.pdf" TargetMode="External"/><Relationship Id="rId7" Type="http://schemas.openxmlformats.org/officeDocument/2006/relationships/hyperlink" Target="https://www.iea.org/reports/co2-emissions-in-2023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streamlit.io/" TargetMode="External"/><Relationship Id="rId5" Type="http://schemas.openxmlformats.org/officeDocument/2006/relationships/hyperlink" Target="https://power.larc.nasa.gov/docs/services/api/" TargetMode="External"/><Relationship Id="rId4" Type="http://schemas.openxmlformats.org/officeDocument/2006/relationships/hyperlink" Target="https://open-meteo.com/en/docs" TargetMode="External"/><Relationship Id="rId9" Type="http://schemas.openxmlformats.org/officeDocument/2006/relationships/hyperlink" Target="https://www.epa.gov/energy/greenhouse-gas-equivalencies-calculator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hyperlink" Target="http://2.181.30.192:8020/" TargetMode="External"/><Relationship Id="rId4" Type="http://schemas.openxmlformats.org/officeDocument/2006/relationships/hyperlink" Target="http://93.118.165.54:8085/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85.185.106.39:13991/" TargetMode="External"/><Relationship Id="rId4" Type="http://schemas.openxmlformats.org/officeDocument/2006/relationships/image" Target="../media/image33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ion"/>
          <p:cNvSpPr txBox="1"/>
          <p:nvPr/>
        </p:nvSpPr>
        <p:spPr>
          <a:xfrm>
            <a:off x="3611880" y="8686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dirty="0">
                <a:solidFill>
                  <a:srgbClr val="E3C77A"/>
                </a:solidFill>
              </a:rPr>
              <a:t>بیست و هشتمین</a:t>
            </a:r>
            <a:endParaRPr lang="fa-IR" sz="2000" dirty="0"/>
          </a:p>
        </p:txBody>
      </p:sp>
      <p:sp>
        <p:nvSpPr>
          <p:cNvPr id="3" name="Festival name"/>
          <p:cNvSpPr txBox="1"/>
          <p:nvPr/>
        </p:nvSpPr>
        <p:spPr>
          <a:xfrm>
            <a:off x="3611880" y="132588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3200" b="1" dirty="0">
                <a:solidFill>
                  <a:schemeClr val="bg1"/>
                </a:solidFill>
              </a:rPr>
              <a:t>جشنواره جوان خوارزمی</a:t>
            </a:r>
            <a:endParaRPr lang="fa-IR" sz="3200" dirty="0"/>
          </a:p>
        </p:txBody>
      </p:sp>
      <p:sp>
        <p:nvSpPr>
          <p:cNvPr id="4" name="Section and year"/>
          <p:cNvSpPr txBox="1"/>
          <p:nvPr/>
        </p:nvSpPr>
        <p:spPr>
          <a:xfrm>
            <a:off x="3611880" y="210312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800" dirty="0">
                <a:solidFill>
                  <a:srgbClr val="D5DCE7"/>
                </a:solidFill>
              </a:rPr>
              <a:t>بخش دانش‌آموزی  |  ۱۴۰۵</a:t>
            </a:r>
            <a:endParaRPr lang="fa-IR" sz="1800" dirty="0"/>
          </a:p>
        </p:txBody>
      </p:sp>
      <p:sp>
        <p:nvSpPr>
          <p:cNvPr id="5" name="Divider"/>
          <p:cNvSpPr/>
          <p:nvPr/>
        </p:nvSpPr>
        <p:spPr>
          <a:xfrm>
            <a:off x="6583680" y="2697480"/>
            <a:ext cx="2103120" cy="3657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roup chip"/>
          <p:cNvSpPr/>
          <p:nvPr/>
        </p:nvSpPr>
        <p:spPr>
          <a:xfrm>
            <a:off x="3611880" y="3017520"/>
            <a:ext cx="507492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Group name"/>
          <p:cNvSpPr txBox="1"/>
          <p:nvPr/>
        </p:nvSpPr>
        <p:spPr>
          <a:xfrm>
            <a:off x="3749040" y="30175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2100" b="1" dirty="0">
                <a:solidFill>
                  <a:schemeClr val="bg1"/>
                </a:solidFill>
              </a:rPr>
              <a:t>گروه علمی: کامپیوتر</a:t>
            </a:r>
            <a:endParaRPr lang="fa-IR" sz="2100" dirty="0"/>
          </a:p>
        </p:txBody>
      </p:sp>
      <p:sp>
        <p:nvSpPr>
          <p:cNvPr id="8" name="Template note"/>
          <p:cNvSpPr txBox="1"/>
          <p:nvPr/>
        </p:nvSpPr>
        <p:spPr>
          <a:xfrm>
            <a:off x="3611880" y="39776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rgbClr val="AEB9CC"/>
                </a:solidFill>
              </a:rPr>
              <a:t>قالب ارائهٔ طرح در مرحلهٔ داوری</a:t>
            </a:r>
            <a:endParaRPr lang="fa-I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مشخصات طرح</a:t>
            </a:r>
            <a:endParaRPr lang="fa-IR" sz="2000" dirty="0"/>
          </a:p>
        </p:txBody>
      </p:sp>
      <p:sp>
        <p:nvSpPr>
          <p:cNvPr id="4" name="Field card"/>
          <p:cNvSpPr/>
          <p:nvPr/>
        </p:nvSpPr>
        <p:spPr>
          <a:xfrm>
            <a:off x="457200" y="1143000"/>
            <a:ext cx="8229600" cy="123444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Field accent"/>
          <p:cNvSpPr/>
          <p:nvPr/>
        </p:nvSpPr>
        <p:spPr>
          <a:xfrm>
            <a:off x="8622792" y="1234440"/>
            <a:ext cx="64008" cy="1051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Field label"/>
          <p:cNvSpPr txBox="1"/>
          <p:nvPr/>
        </p:nvSpPr>
        <p:spPr>
          <a:xfrm>
            <a:off x="685800" y="1252728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عنوان طرح</a:t>
            </a:r>
            <a:endParaRPr lang="fa-IR" sz="1100" dirty="0"/>
          </a:p>
        </p:txBody>
      </p:sp>
      <p:sp>
        <p:nvSpPr>
          <p:cNvPr id="7" name="Field value"/>
          <p:cNvSpPr txBox="1"/>
          <p:nvPr/>
        </p:nvSpPr>
        <p:spPr>
          <a:xfrm>
            <a:off x="685800" y="1554480"/>
            <a:ext cx="7726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2000" b="1" dirty="0">
                <a:latin typeface="Vazirmatn"/>
                <a:ea typeface="Vazirmatn"/>
                <a:cs typeface="+mj-cs"/>
              </a:rPr>
              <a:t>GreenMine</a:t>
            </a:r>
            <a:endParaRPr lang="en-US" sz="2000" b="1" dirty="0">
              <a:latin typeface="Vazirmatn"/>
              <a:ea typeface="Vazirmatn"/>
              <a:cs typeface="+mj-cs"/>
            </a:endParaRPr>
          </a:p>
          <a:p>
            <a:pPr algn="ctr" rtl="1">
              <a:lnSpc>
                <a:spcPct val="100000"/>
              </a:lnSpc>
            </a:pPr>
            <a:r>
              <a:rPr lang="ar-SA" sz="2000" b="1" dirty="0">
                <a:latin typeface="Vazirmatn"/>
                <a:cs typeface="+mj-cs"/>
              </a:rPr>
              <a:t>سامانه هوشمند تحلیل تولید انرژی خورشیدی و محاسبه کاهش انتشار کربن</a:t>
            </a:r>
            <a:endParaRPr lang="fa-IR" sz="2000" b="1" dirty="0">
              <a:latin typeface="Vazirmatn"/>
              <a:ea typeface="Vazirmatn"/>
              <a:cs typeface="+mj-cs"/>
            </a:endParaRPr>
          </a:p>
        </p:txBody>
      </p:sp>
      <p:sp>
        <p:nvSpPr>
          <p:cNvPr id="8" name="Field card"/>
          <p:cNvSpPr/>
          <p:nvPr/>
        </p:nvSpPr>
        <p:spPr>
          <a:xfrm>
            <a:off x="4663440" y="2560320"/>
            <a:ext cx="402336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9" name="Field accent"/>
          <p:cNvSpPr/>
          <p:nvPr/>
        </p:nvSpPr>
        <p:spPr>
          <a:xfrm>
            <a:off x="8622792" y="2651760"/>
            <a:ext cx="64008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Field label"/>
          <p:cNvSpPr txBox="1"/>
          <p:nvPr/>
        </p:nvSpPr>
        <p:spPr>
          <a:xfrm>
            <a:off x="489204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دانش‌آموز(ان)</a:t>
            </a:r>
            <a:endParaRPr lang="fa-IR" sz="1100" dirty="0"/>
          </a:p>
        </p:txBody>
      </p:sp>
      <p:sp>
        <p:nvSpPr>
          <p:cNvPr id="11" name="Field value"/>
          <p:cNvSpPr txBox="1"/>
          <p:nvPr/>
        </p:nvSpPr>
        <p:spPr>
          <a:xfrm>
            <a:off x="489204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5000"/>
              </a:lnSpc>
            </a:pPr>
            <a:r>
              <a:rPr lang="fa-IR" sz="1400" dirty="0">
                <a:latin typeface="Vazirmatn"/>
                <a:ea typeface="Vazirmatn"/>
                <a:cs typeface="+mj-cs"/>
              </a:rPr>
              <a:t>مهرآوا شربتی </a:t>
            </a:r>
          </a:p>
        </p:txBody>
      </p:sp>
      <p:sp>
        <p:nvSpPr>
          <p:cNvPr id="12" name="Field card"/>
          <p:cNvSpPr/>
          <p:nvPr/>
        </p:nvSpPr>
        <p:spPr>
          <a:xfrm>
            <a:off x="457200" y="2560320"/>
            <a:ext cx="402336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3" name="Field accent"/>
          <p:cNvSpPr/>
          <p:nvPr/>
        </p:nvSpPr>
        <p:spPr>
          <a:xfrm>
            <a:off x="4416552" y="2651760"/>
            <a:ext cx="64008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Field label"/>
          <p:cNvSpPr txBox="1"/>
          <p:nvPr/>
        </p:nvSpPr>
        <p:spPr>
          <a:xfrm>
            <a:off x="685800" y="2670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معلم / مشاور راهنما</a:t>
            </a:r>
            <a:endParaRPr lang="fa-IR" sz="1100" dirty="0"/>
          </a:p>
        </p:txBody>
      </p:sp>
      <p:sp>
        <p:nvSpPr>
          <p:cNvPr id="15" name="Field value"/>
          <p:cNvSpPr txBox="1"/>
          <p:nvPr/>
        </p:nvSpPr>
        <p:spPr>
          <a:xfrm>
            <a:off x="685800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5000"/>
              </a:lnSpc>
            </a:pPr>
            <a:r>
              <a:rPr lang="fa-IR" sz="1400" dirty="0">
                <a:latin typeface="Vazirmatn"/>
                <a:ea typeface="Vazirmatn"/>
                <a:cs typeface="+mj-cs"/>
              </a:rPr>
              <a:t>محمد مهدی شریعتمدار</a:t>
            </a:r>
          </a:p>
        </p:txBody>
      </p:sp>
      <p:sp>
        <p:nvSpPr>
          <p:cNvPr id="16" name="Field card"/>
          <p:cNvSpPr/>
          <p:nvPr/>
        </p:nvSpPr>
        <p:spPr>
          <a:xfrm>
            <a:off x="4663440" y="3703320"/>
            <a:ext cx="402336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7" name="Field accent"/>
          <p:cNvSpPr/>
          <p:nvPr/>
        </p:nvSpPr>
        <p:spPr>
          <a:xfrm>
            <a:off x="8622792" y="3794760"/>
            <a:ext cx="64008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Field label"/>
          <p:cNvSpPr txBox="1"/>
          <p:nvPr/>
        </p:nvSpPr>
        <p:spPr>
          <a:xfrm>
            <a:off x="4892040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مدرسه</a:t>
            </a:r>
            <a:endParaRPr lang="fa-IR" sz="1100" dirty="0"/>
          </a:p>
        </p:txBody>
      </p:sp>
      <p:sp>
        <p:nvSpPr>
          <p:cNvPr id="20" name="Field card"/>
          <p:cNvSpPr/>
          <p:nvPr/>
        </p:nvSpPr>
        <p:spPr>
          <a:xfrm>
            <a:off x="457200" y="3703320"/>
            <a:ext cx="4023360" cy="96012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1" name="Field accent"/>
          <p:cNvSpPr/>
          <p:nvPr/>
        </p:nvSpPr>
        <p:spPr>
          <a:xfrm>
            <a:off x="4416552" y="3794760"/>
            <a:ext cx="64008" cy="7772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Field label"/>
          <p:cNvSpPr txBox="1"/>
          <p:nvPr/>
        </p:nvSpPr>
        <p:spPr>
          <a:xfrm>
            <a:off x="685800" y="381304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100" b="1" dirty="0">
                <a:solidFill>
                  <a:schemeClr val="accent2"/>
                </a:solidFill>
              </a:rPr>
              <a:t>شهر و استان</a:t>
            </a:r>
            <a:endParaRPr lang="fa-IR" sz="1100" dirty="0"/>
          </a:p>
        </p:txBody>
      </p:sp>
      <p:sp>
        <p:nvSpPr>
          <p:cNvPr id="23" name="Field value"/>
          <p:cNvSpPr txBox="1"/>
          <p:nvPr/>
        </p:nvSpPr>
        <p:spPr>
          <a:xfrm>
            <a:off x="685800" y="4114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lnSpc>
                <a:spcPct val="115000"/>
              </a:lnSpc>
            </a:pPr>
            <a:r>
              <a:rPr lang="fa-IR" sz="1400" dirty="0">
                <a:latin typeface="Vazirmatn"/>
                <a:ea typeface="Vazirmatn"/>
                <a:cs typeface="+mj-cs"/>
              </a:rPr>
              <a:t>تهران - تهران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بیان مسئله و چالش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33271"/>
            <a:ext cx="8229600" cy="772989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33271"/>
            <a:ext cx="54864" cy="77298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536524" y="1211503"/>
            <a:ext cx="80131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rtl="1">
              <a:lnSpc>
                <a:spcPct val="150000"/>
              </a:lnSpc>
            </a:pPr>
            <a:r>
              <a:rPr lang="fa-IR" sz="1100" dirty="0">
                <a:latin typeface="Vazirmatn"/>
                <a:cs typeface="+mj-cs"/>
              </a:rPr>
              <a:t>1- </a:t>
            </a:r>
            <a:r>
              <a:rPr lang="ar-SA" sz="1100" dirty="0">
                <a:latin typeface="Vazirmatn"/>
                <a:cs typeface="+mj-cs"/>
              </a:rPr>
              <a:t>تولید برق کشور به</a:t>
            </a:r>
            <a:r>
              <a:rPr lang="fa-IR" sz="1100" dirty="0">
                <a:latin typeface="Vazirmatn"/>
                <a:cs typeface="+mj-cs"/>
              </a:rPr>
              <a:t> </a:t>
            </a:r>
            <a:r>
              <a:rPr lang="ar-SA" sz="1100" dirty="0">
                <a:latin typeface="Vazirmatn"/>
                <a:cs typeface="+mj-cs"/>
              </a:rPr>
              <a:t>‌شدت وابسته به نیروگاه‌های حرارتی است؛ به</a:t>
            </a:r>
            <a:r>
              <a:rPr lang="fa-IR" sz="1100" dirty="0">
                <a:latin typeface="Vazirmatn"/>
                <a:cs typeface="+mj-cs"/>
              </a:rPr>
              <a:t> </a:t>
            </a:r>
            <a:r>
              <a:rPr lang="ar-SA" sz="1100" dirty="0">
                <a:latin typeface="Vazirmatn"/>
                <a:cs typeface="+mj-cs"/>
              </a:rPr>
              <a:t>‌گونه‌ای که به ازای تولید هر کیلو</a:t>
            </a:r>
            <a:r>
              <a:rPr lang="fa-IR" sz="1100" dirty="0">
                <a:latin typeface="Vazirmatn"/>
                <a:cs typeface="+mj-cs"/>
              </a:rPr>
              <a:t> </a:t>
            </a:r>
            <a:r>
              <a:rPr lang="ar-SA" sz="1100" dirty="0">
                <a:latin typeface="Vazirmatn"/>
                <a:cs typeface="+mj-cs"/>
              </a:rPr>
              <a:t>وات‌</a:t>
            </a:r>
            <a:r>
              <a:rPr lang="fa-IR" sz="1100" dirty="0">
                <a:latin typeface="Vazirmatn"/>
                <a:cs typeface="+mj-cs"/>
              </a:rPr>
              <a:t> </a:t>
            </a:r>
            <a:r>
              <a:rPr lang="ar-SA" sz="1100" dirty="0">
                <a:latin typeface="Vazirmatn"/>
                <a:cs typeface="+mj-cs"/>
              </a:rPr>
              <a:t>ساعت برق، </a:t>
            </a:r>
            <a:r>
              <a:rPr lang="fa-IR" sz="1100" dirty="0">
                <a:latin typeface="Vazirmatn"/>
                <a:cs typeface="+mj-cs"/>
              </a:rPr>
              <a:t>بیش از</a:t>
            </a:r>
            <a:r>
              <a:rPr lang="ar-SA" sz="1100" dirty="0">
                <a:latin typeface="Vazirmatn"/>
                <a:cs typeface="+mj-cs"/>
              </a:rPr>
              <a:t> نیم کیلوگرم </a:t>
            </a:r>
            <a:r>
              <a:rPr lang="fa-IR" sz="1100" dirty="0">
                <a:latin typeface="Vazirmatn"/>
                <a:cs typeface="+mj-cs"/>
              </a:rPr>
              <a:t>دی اکسید </a:t>
            </a:r>
            <a:r>
              <a:rPr lang="ar-SA" sz="1100" dirty="0">
                <a:latin typeface="Vazirmatn"/>
                <a:cs typeface="+mj-cs"/>
              </a:rPr>
              <a:t>کربن وارد اتمسفر می‌شود</a:t>
            </a:r>
            <a:r>
              <a:rPr lang="fa-IR" sz="1100" dirty="0">
                <a:latin typeface="Vazirmatn"/>
                <a:cs typeface="+mj-cs"/>
              </a:rPr>
              <a:t>.</a:t>
            </a:r>
            <a:r>
              <a:rPr lang="ar-SA" sz="1100" dirty="0">
                <a:latin typeface="Vazirmatn"/>
                <a:cs typeface="+mj-cs"/>
              </a:rPr>
              <a:t> این در حالی است که ابزار استانداردی برای محاسبه دقیق و مستند کربن اجتناب‌شده نیروگاه‌های خورشیدی داخلی وجود ندارد و همین امر، فرآیند تأیید توسط سازمان‌های بالادستی و </a:t>
            </a:r>
            <a:r>
              <a:rPr lang="ar-SA" sz="1100" dirty="0">
                <a:solidFill>
                  <a:srgbClr val="C00000"/>
                </a:solidFill>
                <a:latin typeface="Vazirmatn"/>
                <a:cs typeface="+mj-cs"/>
              </a:rPr>
              <a:t>تهاتر گواهی‌های صرفه‌جویی کربن با صنایع آلاینده را دشوار می‌کند</a:t>
            </a:r>
            <a:r>
              <a:rPr lang="ar-SA" sz="1100" dirty="0">
                <a:latin typeface="Vazirmatn"/>
                <a:cs typeface="+mj-cs"/>
              </a:rPr>
              <a:t>. </a:t>
            </a:r>
            <a:endParaRPr lang="fa-IR" sz="1100" dirty="0">
              <a:latin typeface="Vazirmatn"/>
              <a:cs typeface="+mj-cs"/>
            </a:endParaRPr>
          </a:p>
          <a:p>
            <a:pPr algn="just" rtl="1">
              <a:lnSpc>
                <a:spcPct val="150000"/>
              </a:lnSpc>
            </a:pPr>
            <a:endParaRPr lang="fa-IR" sz="1100" dirty="0">
              <a:latin typeface="Vazirmatn"/>
              <a:cs typeface="+mj-cs"/>
            </a:endParaRPr>
          </a:p>
        </p:txBody>
      </p:sp>
      <p:sp>
        <p:nvSpPr>
          <p:cNvPr id="7" name="Image drop area"/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/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  <p:txBody>
          <a:bodyPr/>
          <a:lstStyle/>
          <a:p>
            <a:pPr algn="just" rtl="1"/>
            <a:r>
              <a:rPr lang="fa-IR" sz="1300" dirty="0">
                <a:latin typeface="Vazirmatn" pitchFamily="2" charset="-78"/>
                <a:cs typeface="+mj-cs"/>
              </a:rPr>
              <a:t>«GreenMine؛ شتاب‌دهنده بورس کربن در ایران»</a:t>
            </a:r>
          </a:p>
          <a:p>
            <a:pPr algn="just" rtl="1"/>
            <a:endParaRPr lang="fa-IR" sz="1300" dirty="0">
              <a:latin typeface="Vazirmatn" pitchFamily="2" charset="-78"/>
              <a:cs typeface="+mj-cs"/>
            </a:endParaRPr>
          </a:p>
          <a:p>
            <a:pPr lvl="0" algn="just" rtl="1"/>
            <a:r>
              <a:rPr lang="fa-IR" sz="1300" dirty="0">
                <a:latin typeface="Vazirmatn" pitchFamily="2" charset="-78"/>
                <a:cs typeface="+mj-cs"/>
              </a:rPr>
              <a:t>هم‌راستایی با سیاست‌های کلان: GreenMine، بازوی اجرایی مورد نیاز برای دستورالعمل‌های جدیدِ «گواهی کاهش انتشار آلاینده» (بر اساس </a:t>
            </a:r>
            <a:r>
              <a:rPr lang="fa-IR" sz="1300" b="1" i="1" dirty="0">
                <a:latin typeface="Vazirmatn" pitchFamily="2" charset="-78"/>
                <a:cs typeface="+mj-cs"/>
              </a:rPr>
              <a:t>مقاله معاون عملیات بورس</a:t>
            </a:r>
            <a:r>
              <a:rPr lang="fa-IR" sz="1300" dirty="0">
                <a:latin typeface="Vazirmatn" pitchFamily="2" charset="-78"/>
                <a:cs typeface="+mj-cs"/>
              </a:rPr>
              <a:t>، شهریور ۱۴۰۴).</a:t>
            </a:r>
          </a:p>
          <a:p>
            <a:pPr lvl="0" algn="just" rtl="1"/>
            <a:r>
              <a:rPr lang="fa-IR" sz="1300" dirty="0">
                <a:latin typeface="Vazirmatn" pitchFamily="2" charset="-78"/>
                <a:cs typeface="+mj-cs"/>
              </a:rPr>
              <a:t>مزیت بی‌رقیب: در حالی که بازار در انتظار زیرساخت ‌های اجرایی است، GreenMine تنها پلتفرم یکپارچه‌ای است که فرآیند پایش، پیش‌بینی تولید و ارزش ‌گذاری کربن را در یک مدل “All-in-One” ترکیب کرده است.</a:t>
            </a:r>
          </a:p>
          <a:p>
            <a:pPr lvl="0" algn="just" rtl="1"/>
            <a:endParaRPr lang="fa-IR" sz="1300" dirty="0">
              <a:latin typeface="Vazirmatn" pitchFamily="2" charset="-78"/>
              <a:cs typeface="+mj-cs"/>
            </a:endParaRPr>
          </a:p>
          <a:p>
            <a:pPr lvl="0" algn="just" rtl="1"/>
            <a:r>
              <a:rPr lang="fa-IR" sz="1300" dirty="0">
                <a:solidFill>
                  <a:srgbClr val="FF0000"/>
                </a:solidFill>
                <a:latin typeface="Vazirmatn" pitchFamily="2" charset="-78"/>
                <a:cs typeface="+mj-cs"/>
              </a:rPr>
              <a:t>پیشرو در نوآوری: نخستین راهکار بومیِ رونمایی ‌شده که شکاف میان تولید انرژی تجدیدپذیر و بازار اوراق کربن را پر می‌کند.</a:t>
            </a:r>
          </a:p>
          <a:p>
            <a:pPr algn="r" rtl="1"/>
            <a:endParaRPr lang="en-US" sz="1300" dirty="0">
              <a:cs typeface="+mj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821129-A709-90BB-2E42-C0BA03195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60" y="1910443"/>
            <a:ext cx="3907460" cy="2762794"/>
          </a:xfrm>
          <a:prstGeom prst="rect">
            <a:avLst/>
          </a:prstGeom>
        </p:spPr>
      </p:pic>
      <p:sp>
        <p:nvSpPr>
          <p:cNvPr id="13" name="Rectangle: Rounded Corners 12">
            <a:hlinkClick r:id="rId4"/>
            <a:extLst>
              <a:ext uri="{FF2B5EF4-FFF2-40B4-BE49-F238E27FC236}">
                <a16:creationId xmlns:a16="http://schemas.microsoft.com/office/drawing/2014/main" id="{214AD344-0CC5-5729-2E2A-DE5204C6240C}"/>
              </a:ext>
            </a:extLst>
          </p:cNvPr>
          <p:cNvSpPr/>
          <p:nvPr/>
        </p:nvSpPr>
        <p:spPr>
          <a:xfrm>
            <a:off x="1385824" y="4264618"/>
            <a:ext cx="1251712" cy="308187"/>
          </a:xfrm>
          <a:prstGeom prst="roundRect">
            <a:avLst/>
          </a:prstGeom>
          <a:solidFill>
            <a:srgbClr val="66FF33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sz="1100" dirty="0">
                <a:latin typeface="Vazirmatn" pitchFamily="2" charset="-78"/>
                <a:cs typeface="+mj-cs"/>
              </a:rPr>
              <a:t>لینک دریافت مقاله</a:t>
            </a:r>
            <a:endParaRPr lang="en-US" sz="1100" dirty="0">
              <a:latin typeface="Vazirmatn" pitchFamily="2" charset="-78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32B1-749F-0392-B890-D8C07175B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8DD5C6EA-19D5-238B-7D8A-2CA6BED24663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بیان مسئله و چالش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3BC26439-EBAB-B304-3CD4-4D26FF6C9708}"/>
              </a:ext>
            </a:extLst>
          </p:cNvPr>
          <p:cNvSpPr/>
          <p:nvPr/>
        </p:nvSpPr>
        <p:spPr>
          <a:xfrm>
            <a:off x="457200" y="1033271"/>
            <a:ext cx="8229600" cy="772989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DD2E3FB4-33E8-01AB-34A9-30EE9AC6CA58}"/>
              </a:ext>
            </a:extLst>
          </p:cNvPr>
          <p:cNvSpPr/>
          <p:nvPr/>
        </p:nvSpPr>
        <p:spPr>
          <a:xfrm>
            <a:off x="8631936" y="1033271"/>
            <a:ext cx="54864" cy="772989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091E0A9C-1830-9F80-5916-507CD42A0F63}"/>
              </a:ext>
            </a:extLst>
          </p:cNvPr>
          <p:cNvSpPr txBox="1"/>
          <p:nvPr/>
        </p:nvSpPr>
        <p:spPr>
          <a:xfrm>
            <a:off x="536524" y="1089583"/>
            <a:ext cx="80131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 rtl="1">
              <a:lnSpc>
                <a:spcPct val="150000"/>
              </a:lnSpc>
            </a:pPr>
            <a:r>
              <a:rPr lang="fa-IR" sz="1100" dirty="0">
                <a:latin typeface="Vazirmatn"/>
                <a:cs typeface="+mj-cs"/>
              </a:rPr>
              <a:t>2- </a:t>
            </a:r>
            <a:r>
              <a:rPr lang="ar-SA" sz="1100" dirty="0">
                <a:latin typeface="Vazirmatn"/>
                <a:cs typeface="+mj-cs"/>
              </a:rPr>
              <a:t>ریسک نکول </a:t>
            </a:r>
            <a:r>
              <a:rPr lang="fa-IR" sz="1100" dirty="0">
                <a:latin typeface="Vazirmatn"/>
                <a:cs typeface="+mj-cs"/>
              </a:rPr>
              <a:t>(عدم ایفای تعهد) </a:t>
            </a:r>
            <a:r>
              <a:rPr lang="ar-SA" sz="1100" dirty="0">
                <a:latin typeface="Vazirmatn"/>
                <a:cs typeface="+mj-cs"/>
              </a:rPr>
              <a:t>در تابلوی سبز بورس انرژی ایران است</a:t>
            </a:r>
            <a:r>
              <a:rPr lang="fa-IR" sz="1100" dirty="0">
                <a:latin typeface="Vazirmatn"/>
                <a:cs typeface="+mj-cs"/>
              </a:rPr>
              <a:t>.</a:t>
            </a:r>
            <a:r>
              <a:rPr lang="ar-SA" sz="1100" dirty="0">
                <a:latin typeface="Vazirmatn"/>
                <a:cs typeface="+mj-cs"/>
              </a:rPr>
              <a:t> نیروگاه‌</a:t>
            </a:r>
            <a:r>
              <a:rPr lang="fa-IR" sz="1100" dirty="0">
                <a:latin typeface="Vazirmatn"/>
                <a:cs typeface="+mj-cs"/>
              </a:rPr>
              <a:t> </a:t>
            </a:r>
            <a:r>
              <a:rPr lang="ar-SA" sz="1100" dirty="0">
                <a:latin typeface="Vazirmatn"/>
                <a:cs typeface="+mj-cs"/>
              </a:rPr>
              <a:t>دارها بدون یک ابزار دقیق پیش‌بینی تولید ماه آینده، </a:t>
            </a:r>
            <a:r>
              <a:rPr lang="fa-IR" sz="1100" dirty="0">
                <a:latin typeface="Vazirmatn"/>
                <a:cs typeface="+mj-cs"/>
              </a:rPr>
              <a:t>در پیش فروش برق تولیدی در ماه آتی، </a:t>
            </a:r>
            <a:r>
              <a:rPr lang="ar-SA" sz="1100" dirty="0">
                <a:latin typeface="Vazirmatn"/>
                <a:cs typeface="+mj-cs"/>
              </a:rPr>
              <a:t>در معرض جریمه‌های عدم ایفای تعهد قرار می‌گیرند. سامانه‌های ثبت‌کننده نیز صرفاً </a:t>
            </a:r>
            <a:r>
              <a:rPr lang="fa-IR" sz="1100" dirty="0">
                <a:latin typeface="Vazirmatn"/>
                <a:cs typeface="+mj-cs"/>
              </a:rPr>
              <a:t>تولید محقق شده </a:t>
            </a:r>
            <a:r>
              <a:rPr lang="ar-SA" sz="1100" dirty="0">
                <a:latin typeface="Vazirmatn"/>
                <a:cs typeface="+mj-cs"/>
              </a:rPr>
              <a:t>را ثبت می‌کنند و ابزار تحلیلی </a:t>
            </a:r>
            <a:r>
              <a:rPr lang="fa-IR" sz="1100" dirty="0">
                <a:latin typeface="Vazirmatn"/>
                <a:cs typeface="+mj-cs"/>
              </a:rPr>
              <a:t>پیش بینی </a:t>
            </a:r>
            <a:r>
              <a:rPr lang="ar-SA" sz="1100" dirty="0">
                <a:latin typeface="Vazirmatn"/>
                <a:cs typeface="+mj-cs"/>
              </a:rPr>
              <a:t>برای سرمایه‌گذار فراهم نمی‌آورند</a:t>
            </a:r>
            <a:r>
              <a:rPr lang="fa-IR" sz="1100" dirty="0">
                <a:latin typeface="Vazirmatn"/>
                <a:cs typeface="+mj-cs"/>
              </a:rPr>
              <a:t>.</a:t>
            </a:r>
            <a:endParaRPr lang="fa-IR" sz="1100" dirty="0">
              <a:latin typeface="Vazirmatn"/>
              <a:ea typeface="Vazirmatn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7E76BB2B-BAE2-243C-A837-DF7620B2C2FA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5A51963A-3F81-9450-229E-224535CACF5F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  <p:txBody>
          <a:bodyPr/>
          <a:lstStyle/>
          <a:p>
            <a:pPr algn="just" rtl="1"/>
            <a:r>
              <a:rPr lang="fa-IR" sz="1200" b="1" dirty="0">
                <a:latin typeface="Vazirmatn" pitchFamily="2" charset="-78"/>
                <a:cs typeface="+mj-cs"/>
              </a:rPr>
              <a:t>«هم‌راستایی با نیازهای ملی و تأییدیه فنی»</a:t>
            </a:r>
          </a:p>
          <a:p>
            <a:pPr algn="just" rtl="1"/>
            <a:endParaRPr lang="fa-IR" sz="1200" dirty="0">
              <a:latin typeface="Vazirmatn" pitchFamily="2" charset="-78"/>
              <a:cs typeface="+mj-cs"/>
            </a:endParaRPr>
          </a:p>
          <a:p>
            <a:pPr lvl="0" algn="just" rtl="1"/>
            <a:r>
              <a:rPr lang="fa-IR" sz="1200" b="1" dirty="0">
                <a:latin typeface="Vazirmatn" pitchFamily="2" charset="-78"/>
                <a:cs typeface="+mj-cs"/>
              </a:rPr>
              <a:t>تأییدیه راهبردی:</a:t>
            </a:r>
            <a:r>
              <a:rPr lang="fa-IR" sz="1200" dirty="0">
                <a:latin typeface="Vazirmatn" pitchFamily="2" charset="-78"/>
                <a:cs typeface="+mj-cs"/>
              </a:rPr>
              <a:t> پلتفرم GreenMine در جلسه حضوری مورد بررسی و بازخورد فنی سرکار خانم مهندس اولیاء قرار گرفته است.</a:t>
            </a:r>
          </a:p>
          <a:p>
            <a:pPr lvl="0" algn="just" rtl="1"/>
            <a:endParaRPr lang="fa-IR" sz="1200" dirty="0">
              <a:latin typeface="Vazirmatn" pitchFamily="2" charset="-78"/>
              <a:cs typeface="+mj-cs"/>
            </a:endParaRPr>
          </a:p>
          <a:p>
            <a:pPr lvl="0" algn="just" rtl="1"/>
            <a:r>
              <a:rPr lang="fa-IR" sz="1200" b="1" dirty="0">
                <a:latin typeface="Vazirmatn" pitchFamily="2" charset="-78"/>
                <a:cs typeface="+mj-cs"/>
              </a:rPr>
              <a:t>تطبیق با دستورالعمل مهر ۱۴۰۵ ساتبا: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</a:p>
          <a:p>
            <a:pPr lvl="1" algn="just" rtl="1"/>
            <a:r>
              <a:rPr lang="fa-IR" sz="1200" b="1" dirty="0">
                <a:latin typeface="Vazirmatn" pitchFamily="2" charset="-78"/>
                <a:cs typeface="+mj-cs"/>
              </a:rPr>
              <a:t>پیش‌بینی اقلیمی:</a:t>
            </a:r>
            <a:r>
              <a:rPr lang="fa-IR" sz="1200" dirty="0">
                <a:latin typeface="Vazirmatn" pitchFamily="2" charset="-78"/>
                <a:cs typeface="+mj-cs"/>
              </a:rPr>
              <a:t> استفاده از مدل‌های هواشناسی برای مدیریت تولید و جلوگیری از جریمه‌های «نکول».</a:t>
            </a:r>
          </a:p>
          <a:p>
            <a:pPr lvl="1" algn="just" rtl="1"/>
            <a:r>
              <a:rPr lang="fa-IR" sz="1200" b="1" dirty="0">
                <a:latin typeface="Vazirmatn" pitchFamily="2" charset="-78"/>
                <a:cs typeface="+mj-cs"/>
              </a:rPr>
              <a:t>مستندسازی حقوقی:</a:t>
            </a:r>
            <a:r>
              <a:rPr lang="fa-IR" sz="1200" dirty="0">
                <a:latin typeface="Vazirmatn" pitchFamily="2" charset="-78"/>
                <a:cs typeface="+mj-cs"/>
              </a:rPr>
              <a:t> ایجاد قابلیت معافیت از جریمه نیروگاه‌دار با استناد به لاگ‌های دقیق قطعی شبکه در زمان‌های ثبت‌شده.</a:t>
            </a:r>
          </a:p>
          <a:p>
            <a:pPr lvl="1" algn="just" rtl="1"/>
            <a:endParaRPr lang="fa-IR" sz="1200" dirty="0">
              <a:latin typeface="Vazirmatn" pitchFamily="2" charset="-78"/>
              <a:cs typeface="+mj-cs"/>
            </a:endParaRPr>
          </a:p>
          <a:p>
            <a:pPr lvl="0" algn="just" rtl="1"/>
            <a:r>
              <a:rPr lang="fa-IR" sz="1200" b="1" dirty="0">
                <a:solidFill>
                  <a:srgbClr val="FF0000"/>
                </a:solidFill>
                <a:latin typeface="Vazirmatn" pitchFamily="2" charset="-78"/>
                <a:cs typeface="+mj-cs"/>
              </a:rPr>
              <a:t>مزیت پیشگامی:</a:t>
            </a:r>
            <a:r>
              <a:rPr lang="fa-IR" sz="1200" dirty="0">
                <a:solidFill>
                  <a:srgbClr val="FF0000"/>
                </a:solidFill>
                <a:latin typeface="Vazirmatn" pitchFamily="2" charset="-78"/>
                <a:cs typeface="+mj-cs"/>
              </a:rPr>
              <a:t> طراحی سامانه در سال ۱۴۰۴ (پیش از پیش نویس دستورالعمل مهرماه ۱۴۰۵) که نشان‌دهنده درک دقیق از چالش‌های آتی بازار انرژی است.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2F0C7D2-D827-722B-275C-0B2A14519D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ACD0F1-030C-4728-592C-8B264F7AC0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925" b="18630"/>
          <a:stretch>
            <a:fillRect/>
          </a:stretch>
        </p:blipFill>
        <p:spPr>
          <a:xfrm>
            <a:off x="624491" y="1906843"/>
            <a:ext cx="3668457" cy="2721037"/>
          </a:xfrm>
          <a:prstGeom prst="rect">
            <a:avLst/>
          </a:prstGeom>
        </p:spPr>
      </p:pic>
      <p:sp>
        <p:nvSpPr>
          <p:cNvPr id="12" name="Rectangle: Rounded Corners 11">
            <a:hlinkClick r:id="rId4"/>
            <a:extLst>
              <a:ext uri="{FF2B5EF4-FFF2-40B4-BE49-F238E27FC236}">
                <a16:creationId xmlns:a16="http://schemas.microsoft.com/office/drawing/2014/main" id="{ED46A13C-2D90-46CA-6BAC-09725E7309AC}"/>
              </a:ext>
            </a:extLst>
          </p:cNvPr>
          <p:cNvSpPr/>
          <p:nvPr/>
        </p:nvSpPr>
        <p:spPr>
          <a:xfrm>
            <a:off x="523240" y="4184410"/>
            <a:ext cx="1163320" cy="382510"/>
          </a:xfrm>
          <a:prstGeom prst="roundRect">
            <a:avLst/>
          </a:prstGeom>
          <a:solidFill>
            <a:srgbClr val="66FF33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050" dirty="0">
                <a:solidFill>
                  <a:schemeClr val="tx1"/>
                </a:solidFill>
                <a:latin typeface="Vazirmatn" pitchFamily="2" charset="-78"/>
                <a:cs typeface="+mj-cs"/>
              </a:rPr>
              <a:t>لینک دریافت دستورالعمل</a:t>
            </a:r>
            <a:endParaRPr lang="en-US" sz="1050" dirty="0">
              <a:solidFill>
                <a:schemeClr val="tx1"/>
              </a:solidFill>
              <a:latin typeface="Vazirmatn" pitchFamily="2" charset="-7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406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اهداف دقیق طرح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اهداف</a:t>
            </a:r>
            <a:endParaRPr lang="en-US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Bullets card"/>
          <p:cNvSpPr/>
          <p:nvPr/>
        </p:nvSpPr>
        <p:spPr>
          <a:xfrm>
            <a:off x="457200" y="1874520"/>
            <a:ext cx="82296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/>
          <p:cNvSpPr txBox="1"/>
          <p:nvPr/>
        </p:nvSpPr>
        <p:spPr>
          <a:xfrm>
            <a:off x="685800" y="1931852"/>
            <a:ext cx="7772400" cy="2762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b="1" dirty="0">
                <a:solidFill>
                  <a:srgbClr val="C00000"/>
                </a:solidFill>
                <a:latin typeface="Vazirmatn" pitchFamily="2" charset="-78"/>
                <a:cs typeface="+mj-cs"/>
              </a:rPr>
              <a:t>هدف اصلی: </a:t>
            </a:r>
            <a:r>
              <a:rPr lang="ar-SA" sz="1200" dirty="0">
                <a:latin typeface="Vazirmatn" pitchFamily="2" charset="-78"/>
                <a:cs typeface="+mj-cs"/>
              </a:rPr>
              <a:t>طراحی و پیاده‌سازی سامانه یکپارچه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en-US" sz="1200" dirty="0">
                <a:latin typeface="Vazirmatn" pitchFamily="2" charset="-78"/>
                <a:cs typeface="+mj-cs"/>
              </a:rPr>
              <a:t>(Web &amp; App)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جهت پایش هوشمند، پیش‌بینی تولید ماه آتی و توکن‌سازی کربن اجتناب‌شده برای نیروگاه‌های خورشیدی ایران</a:t>
            </a:r>
            <a:r>
              <a:rPr lang="en-US" sz="1200" dirty="0">
                <a:latin typeface="Vazirmatn" pitchFamily="2" charset="-78"/>
                <a:cs typeface="+mj-cs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solidFill>
                  <a:srgbClr val="C00000"/>
                </a:solidFill>
                <a:latin typeface="Vazirmatn" pitchFamily="2" charset="-78"/>
                <a:cs typeface="+mj-cs"/>
              </a:rPr>
              <a:t>هدف فرعی ۱: </a:t>
            </a:r>
            <a:r>
              <a:rPr lang="ar-SA" sz="1200" b="1" dirty="0">
                <a:latin typeface="Vazirmatn" pitchFamily="2" charset="-78"/>
                <a:cs typeface="+mj-cs"/>
              </a:rPr>
              <a:t>پیش‌گیری از ریسک جریمه نکول</a:t>
            </a:r>
            <a:r>
              <a:rPr lang="fa-IR" sz="1200" b="1" dirty="0">
                <a:latin typeface="Vazirmatn" pitchFamily="2" charset="-78"/>
                <a:cs typeface="+mj-cs"/>
              </a:rPr>
              <a:t>: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ارائه تخمین دقیق از ظرفیت تولید ماه آینده جهت تنظیم حجم قراردادهای پیش‌فروش در تابلوی برق سبز بورس انرژی</a:t>
            </a:r>
            <a:r>
              <a:rPr lang="en-US" sz="1200" dirty="0">
                <a:latin typeface="Vazirmatn" pitchFamily="2" charset="-78"/>
                <a:cs typeface="+mj-cs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solidFill>
                  <a:srgbClr val="C00000"/>
                </a:solidFill>
                <a:latin typeface="Vazirmatn" pitchFamily="2" charset="-78"/>
                <a:cs typeface="+mj-cs"/>
              </a:rPr>
              <a:t>هدف فرعی ۲: </a:t>
            </a:r>
            <a:r>
              <a:rPr lang="ar-SA" sz="1200" b="1" dirty="0">
                <a:latin typeface="Vazirmatn" pitchFamily="2" charset="-78"/>
                <a:cs typeface="+mj-cs"/>
              </a:rPr>
              <a:t>محاسبه بومی انتشار کربن</a:t>
            </a:r>
            <a:r>
              <a:rPr lang="fa-IR" sz="1200" b="1" dirty="0">
                <a:latin typeface="Vazirmatn" pitchFamily="2" charset="-78"/>
                <a:cs typeface="+mj-cs"/>
              </a:rPr>
              <a:t>: </a:t>
            </a:r>
            <a:r>
              <a:rPr lang="ar-SA" sz="1200" dirty="0">
                <a:latin typeface="Vazirmatn" pitchFamily="2" charset="-78"/>
                <a:cs typeface="+mj-cs"/>
              </a:rPr>
              <a:t>جایگزینی ضرایب عمومی خارجی با ضریب انتشار واقعی شبکه سراسری برق ایرا</a:t>
            </a:r>
            <a:r>
              <a:rPr lang="fa-IR" sz="1200" dirty="0">
                <a:latin typeface="Vazirmatn" pitchFamily="2" charset="-78"/>
                <a:cs typeface="+mj-cs"/>
              </a:rPr>
              <a:t>ن (</a:t>
            </a:r>
            <a:r>
              <a:rPr lang="en-US" sz="1200" dirty="0">
                <a:latin typeface="Vazirmatn" pitchFamily="2" charset="-78"/>
                <a:cs typeface="+mj-cs"/>
              </a:rPr>
              <a:t>0.66 kg CO</a:t>
            </a:r>
            <a:r>
              <a:rPr lang="en-US" sz="1200" baseline="-25000" dirty="0">
                <a:latin typeface="Vazirmatn" pitchFamily="2" charset="-78"/>
                <a:cs typeface="+mj-cs"/>
              </a:rPr>
              <a:t>2</a:t>
            </a:r>
            <a:r>
              <a:rPr lang="en-US" sz="1200" dirty="0">
                <a:latin typeface="Vazirmatn" pitchFamily="2" charset="-78"/>
                <a:cs typeface="+mj-cs"/>
              </a:rPr>
              <a:t>/kwh</a:t>
            </a:r>
            <a:r>
              <a:rPr lang="fa-IR" sz="1200" dirty="0">
                <a:latin typeface="Vazirmatn" pitchFamily="2" charset="-78"/>
                <a:cs typeface="+mj-cs"/>
              </a:rPr>
              <a:t>) 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solidFill>
                  <a:srgbClr val="C00000"/>
                </a:solidFill>
                <a:latin typeface="Vazirmatn" pitchFamily="2" charset="-78"/>
                <a:cs typeface="+mj-cs"/>
              </a:rPr>
              <a:t>معیار سنجش موفقیت هر هدف: </a:t>
            </a:r>
            <a:endParaRPr lang="en-US" sz="1200" b="1" dirty="0">
              <a:solidFill>
                <a:srgbClr val="C00000"/>
              </a:solidFill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ar-SA" sz="1200" b="1" dirty="0">
                <a:latin typeface="Vazirmatn" pitchFamily="2" charset="-78"/>
                <a:cs typeface="+mj-cs"/>
              </a:rPr>
              <a:t>معیار فنی</a:t>
            </a:r>
            <a:r>
              <a:rPr lang="en-US" sz="1200" b="1" dirty="0">
                <a:latin typeface="Vazirmatn" pitchFamily="2" charset="-78"/>
                <a:cs typeface="+mj-cs"/>
              </a:rPr>
              <a:t>: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صحت اجرای الگوریتم پالایش روی </a:t>
            </a:r>
            <a:r>
              <a:rPr lang="fa-IR" sz="1200" dirty="0">
                <a:latin typeface="Vazirmatn" pitchFamily="2" charset="-78"/>
                <a:cs typeface="+mj-cs"/>
              </a:rPr>
              <a:t>۳ </a:t>
            </a:r>
            <a:r>
              <a:rPr lang="ar-SA" sz="1200" dirty="0">
                <a:latin typeface="Vazirmatn" pitchFamily="2" charset="-78"/>
                <a:cs typeface="+mj-cs"/>
              </a:rPr>
              <a:t>نیروگاه با برندها و گزارش‌های مختلف اینورتر بدون تداخل داده</a:t>
            </a:r>
            <a:r>
              <a:rPr lang="en-US" sz="1200" dirty="0">
                <a:latin typeface="Vazirmatn" pitchFamily="2" charset="-78"/>
                <a:cs typeface="+mj-cs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lang="ar-SA" sz="1200" b="1" dirty="0">
                <a:latin typeface="Vazirmatn" pitchFamily="2" charset="-78"/>
                <a:cs typeface="+mj-cs"/>
              </a:rPr>
              <a:t>معیار پیش‌بینی</a:t>
            </a:r>
            <a:r>
              <a:rPr lang="en-US" sz="1200" b="1" dirty="0">
                <a:latin typeface="Vazirmatn" pitchFamily="2" charset="-78"/>
                <a:cs typeface="+mj-cs"/>
              </a:rPr>
              <a:t>: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کاهش ریسک مغایرت پیش‌فروش در بورس انرژی از طریق همگرایی داده‌های اقلیمی ماهانه با خروجی واقعی</a:t>
            </a:r>
            <a:r>
              <a:rPr lang="en-US" sz="1200" dirty="0">
                <a:latin typeface="Vazirmatn" pitchFamily="2" charset="-78"/>
                <a:cs typeface="+mj-cs"/>
              </a:rPr>
              <a:t>.</a:t>
            </a:r>
          </a:p>
          <a:p>
            <a:pPr algn="r" rtl="1">
              <a:lnSpc>
                <a:spcPct val="150000"/>
              </a:lnSpc>
            </a:pPr>
            <a:r>
              <a:rPr lang="ar-SA" sz="1200" b="1" dirty="0">
                <a:latin typeface="Vazirmatn" pitchFamily="2" charset="-78"/>
                <a:cs typeface="+mj-cs"/>
              </a:rPr>
              <a:t>معیار مالی-محیطی</a:t>
            </a:r>
            <a:r>
              <a:rPr lang="en-US" sz="1200" b="1" dirty="0">
                <a:latin typeface="Vazirmatn" pitchFamily="2" charset="-78"/>
                <a:cs typeface="+mj-cs"/>
              </a:rPr>
              <a:t>: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قابلیت صدور شناسنامه استاندارد کربن آماده برای تهاتر با صنایع مشمول صرفه جویی کربن</a:t>
            </a:r>
            <a:endParaRPr lang="fa-IR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جنبه‌های نوآورانه طرح</a:t>
            </a:r>
            <a:endParaRPr lang="fa-IR" sz="2000" dirty="0"/>
          </a:p>
        </p:txBody>
      </p:sp>
      <p:graphicFrame>
        <p:nvGraphicFramePr>
          <p:cNvPr id="7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13551"/>
              </p:ext>
            </p:extLst>
          </p:nvPr>
        </p:nvGraphicFramePr>
        <p:xfrm>
          <a:off x="457200" y="1288685"/>
          <a:ext cx="8229600" cy="329184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طرح ما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نمونهٔ موجود (خارجی)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نمونهٔ موجود (داخلی)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ویژگی / شاخص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endParaRPr lang="en-US" sz="1200" b="1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algn="r" rtl="1"/>
                      <a:r>
                        <a:rPr lang="ar-SA" sz="1200" b="1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پایش زنده و هوشمند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مستقل از برند اینورتر با معماری سبک تحت وب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SolarEdge, </a:t>
                      </a:r>
                      <a:r>
                        <a:rPr lang="en-US" sz="1200" dirty="0" err="1">
                          <a:latin typeface="Vazirmatn" pitchFamily="2" charset="-78"/>
                          <a:cs typeface="+mj-cs"/>
                        </a:rPr>
                        <a:t>SolarLog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صرفاً وضعیت لحظه‌ای تولید را نشان می‌دهند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به هیچ بازار مالی یا نظام کربن متصل نیستند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پایش های دستی و متفرقه</a:t>
                      </a:r>
                      <a:endParaRPr lang="fa-IR" sz="1200" dirty="0"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مانیتورینگ </a:t>
                      </a: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و پایش داده های اینورتر</a:t>
                      </a:r>
                      <a:endParaRPr lang="fa-IR" sz="1200" dirty="0"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lang="ar-SA" sz="1200" b="1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پیش‌بینی تولید ماه آتی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هم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‌راستا با تقویم معاملاتی بورس انرژی 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(ماه شمسی)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جهت پیش‌گیری از ریسک نکول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در پیش فروش برق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Pvsyst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algn="r" rtl="1"/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تولید برق فتوولتائیک را بر پایه داده‌های تابش تخمین می‌زنند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.</a:t>
                      </a: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پیش‌بینی را به مکانیزم‌های معاملاتی بازار برق پیوند نمی‌زنند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.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پیش بینی تخمینی بر پایه نرم افزارهایی مانند اکسل</a:t>
                      </a:r>
                      <a:endParaRPr lang="fa-IR" sz="1200" dirty="0"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نرم‌افزارهای شبیه‌سازی و پیش‌بینی</a:t>
                      </a: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تولید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lang="ar-SA" sz="1200" b="1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محاسبه بومی انتشار کربن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با ضریب شبکه برق ایران و صدور گواهی صرفه جویی کربن یا توکن سبز قابل معامله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با استانداردهای بین‌المللی کار می‌کنند</a:t>
                      </a: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و برای شبکه برق ایران کالیبره نشده اند.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وجود ندارد</a:t>
                      </a:r>
                      <a:endParaRPr lang="fa-IR" sz="1200" dirty="0"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algn="r" rtl="1"/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محاسبه</a:t>
                      </a: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و </a:t>
                      </a: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گواهی (</a:t>
                      </a: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توکن‌سازی</a:t>
                      </a:r>
                      <a:r>
                        <a:rPr lang="fa-IR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)</a:t>
                      </a:r>
                      <a:r>
                        <a:rPr lang="ar-SA" sz="1200" kern="1200" dirty="0">
                          <a:solidFill>
                            <a:schemeClr val="dk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کربن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150CE-0ACF-47E8-915A-3E77BBF8A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30FEDD71-113E-E3BD-59D0-DEE8A5A14F5B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جنبه‌های نوآورانه طرح</a:t>
            </a:r>
            <a:endParaRPr lang="fa-IR" sz="2000" dirty="0"/>
          </a:p>
        </p:txBody>
      </p:sp>
      <p:graphicFrame>
        <p:nvGraphicFramePr>
          <p:cNvPr id="7" name="Data table">
            <a:extLst>
              <a:ext uri="{FF2B5EF4-FFF2-40B4-BE49-F238E27FC236}">
                <a16:creationId xmlns:a16="http://schemas.microsoft.com/office/drawing/2014/main" id="{5EBFC8A2-388A-12FF-BE80-D8BD465CA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20481"/>
              </p:ext>
            </p:extLst>
          </p:nvPr>
        </p:nvGraphicFramePr>
        <p:xfrm>
          <a:off x="457200" y="1288685"/>
          <a:ext cx="8229600" cy="2971800"/>
        </p:xfrm>
        <a:graphic>
          <a:graphicData uri="http://schemas.openxmlformats.org/drawingml/2006/table">
            <a:tbl>
              <a:tblPr/>
              <a:tblGrid>
                <a:gridCol w="2104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200" b="1" dirty="0">
                          <a:solidFill>
                            <a:srgbClr val="FFFFFF"/>
                          </a:solidFill>
                          <a:latin typeface="Vazirmatn" pitchFamily="2" charset="-78"/>
                          <a:cs typeface="+mj-cs"/>
                        </a:rPr>
                        <a:t>سامانه ابداعی ما</a:t>
                      </a:r>
                    </a:p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Vazirmatn" pitchFamily="2" charset="-78"/>
                          <a:cs typeface="+mj-cs"/>
                        </a:rPr>
                        <a:t>(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Vazirmatn" pitchFamily="2" charset="-78"/>
                          <a:cs typeface="+mj-cs"/>
                        </a:rPr>
                        <a:t>GreenMine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Vazirmatn" pitchFamily="2" charset="-78"/>
                          <a:cs typeface="+mj-cs"/>
                        </a:rPr>
                        <a:t>)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ar-SA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نرم‌افزارهای شبیه‌سازی مهندسی</a:t>
                      </a:r>
                      <a:endParaRPr lang="en-US" sz="1200" kern="1200" dirty="0">
                        <a:solidFill>
                          <a:schemeClr val="bg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marL="0" indent="0" algn="ctr" rtl="1">
                        <a:buNone/>
                      </a:pPr>
                      <a:r>
                        <a:rPr lang="ar-SA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(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PVsyst</a:t>
                      </a:r>
                      <a:r>
                        <a:rPr lang="ar-SA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)</a:t>
                      </a:r>
                      <a:endParaRPr lang="fa-IR" sz="1200" dirty="0">
                        <a:solidFill>
                          <a:schemeClr val="bg1"/>
                        </a:solidFill>
                        <a:latin typeface="Vazirmatn" pitchFamily="2" charset="-78"/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ar-SA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نرم‌افزارهای مانیتورینگ اینورتر (</a:t>
                      </a:r>
                      <a:r>
                        <a:rPr lang="en-US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SolarEdge / </a:t>
                      </a:r>
                      <a:r>
                        <a:rPr lang="en-US" sz="1200" kern="1200" dirty="0" err="1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SolarLog</a:t>
                      </a:r>
                      <a:r>
                        <a:rPr lang="ar-SA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)</a:t>
                      </a:r>
                      <a:endParaRPr lang="fa-IR" sz="1200" dirty="0">
                        <a:solidFill>
                          <a:schemeClr val="bg1"/>
                        </a:solidFill>
                        <a:latin typeface="Vazirmatn" pitchFamily="2" charset="-78"/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ar-SA" sz="1200" kern="1200" dirty="0">
                          <a:solidFill>
                            <a:schemeClr val="bg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شاخص / قابلیت کلیدی</a:t>
                      </a:r>
                      <a:endParaRPr lang="fa-IR" sz="1200" dirty="0">
                        <a:solidFill>
                          <a:schemeClr val="bg1"/>
                        </a:solidFill>
                        <a:latin typeface="Vazirmatn" pitchFamily="2" charset="-78"/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وب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‌اپلیکیشن جامع مانیتورینگ زنده + تحلیل مالی/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اقلیمی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شبیه‌سازی دسکتاپ قبل از احداث نیروگاه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صرفاً نمایش گرافیکی و لحظه‌ای تولید توان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نوع عملکرد و کاربری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دارد (تنظیم پیشنهاد پیش‌فروش ماهانه بورس انرژی)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ندارد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ندارد (هیچ ارتباطی با سازوکار فروش ندارد)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اتصال به بازار و بورس برق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پیش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‌بینی ماه آتی هم‌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راستا با تقویم معاملاتی بورس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تخمین کلی اقلیمی، بدون همگام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‌سازی عملیاتی ماهانه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فقط گذشته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‌نگر (ثبت وقایع انجام‌شده)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پیش‌گیری از ریسک نکول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معماری دوهسته‌ای سبک، مستقل از برند اینورتر و تحت وب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نرم‌افزار سنگین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وابسته به سخت‌افزار اختصاصی همان شرکت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مدل معماری و پردازش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71185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صدور گواهی کربن استاندارد و آماده معامله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ندارد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ندارد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A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توکن‌سازی و گواهی کربن</a:t>
                      </a:r>
                      <a:endParaRPr lang="en-US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502666"/>
                  </a:ext>
                </a:extLst>
              </a:tr>
            </a:tbl>
          </a:graphicData>
        </a:graphic>
      </p:graphicFrame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D4CAF01-3A4C-0AC0-B019-8613E794EF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36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8F55-7950-C268-CD14-51CC22D0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7BC95E97-5F75-0083-3FB8-786CA3313988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روش اجرای طرح (مواد و روش‌ها)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F0F5A3F7-4E2A-67D9-8FC4-C52E6D7685F7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D1A6FA40-E916-6A3E-3908-EFEB85ACAE70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EF5546C8-AA23-43C0-E9E2-A8E49C756F3B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مراحل اجرایی طرح (به ترتیب زمانی)</a:t>
            </a:r>
            <a:endParaRPr lang="en-US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9036526F-82E9-098B-51E9-8DA86425DC0E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F020DABE-A5E4-83E7-2CC1-1F56350B98F2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>
            <a:extLst>
              <a:ext uri="{FF2B5EF4-FFF2-40B4-BE49-F238E27FC236}">
                <a16:creationId xmlns:a16="http://schemas.microsoft.com/office/drawing/2014/main" id="{23BF4CB5-0D81-C136-E5E3-D279CB04A71B}"/>
              </a:ext>
            </a:extLst>
          </p:cNvPr>
          <p:cNvSpPr txBox="1"/>
          <p:nvPr/>
        </p:nvSpPr>
        <p:spPr>
          <a:xfrm>
            <a:off x="4800600" y="21488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rtl="1"/>
            <a:r>
              <a:rPr lang="fa-IR" sz="1200" b="1" dirty="0">
                <a:latin typeface="Vazirmatn" pitchFamily="2" charset="-78"/>
                <a:cs typeface="+mj-cs"/>
              </a:rPr>
              <a:t>ماموریت اول (فاز مطالعاتی و تحلیل نیاز):</a:t>
            </a:r>
            <a:r>
              <a:rPr lang="fa-IR" sz="1200" dirty="0">
                <a:latin typeface="Vazirmatn" pitchFamily="2" charset="-78"/>
                <a:cs typeface="+mj-cs"/>
              </a:rPr>
              <a:t> بررسی چالش‌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های بورس انرژی (نکول پیش‌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فروش) و استانداردهای ضریب انتشار کربن شبکه برق ایران.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just" rtl="1"/>
            <a:r>
              <a:rPr lang="fa-IR" sz="1200" b="1" dirty="0">
                <a:latin typeface="Vazirmatn" pitchFamily="2" charset="-78"/>
                <a:cs typeface="+mj-cs"/>
              </a:rPr>
              <a:t>ماموریت دوم (توسعه هسته فنی و دیتابیس):</a:t>
            </a:r>
            <a:r>
              <a:rPr lang="fa-IR" sz="1200" dirty="0">
                <a:latin typeface="Vazirmatn" pitchFamily="2" charset="-78"/>
                <a:cs typeface="+mj-cs"/>
              </a:rPr>
              <a:t> طراحی پایگاه داده (</a:t>
            </a:r>
            <a:r>
              <a:rPr lang="en-US" sz="1200" dirty="0" err="1">
                <a:latin typeface="Vazirmatn" pitchFamily="2" charset="-78"/>
                <a:cs typeface="+mj-cs"/>
              </a:rPr>
              <a:t>greenmine.db</a:t>
            </a:r>
            <a:r>
              <a:rPr lang="fa-IR" sz="1200" dirty="0">
                <a:latin typeface="Vazirmatn" pitchFamily="2" charset="-78"/>
                <a:cs typeface="+mj-cs"/>
              </a:rPr>
              <a:t>)، نوشتن اسکریپت‌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های پالایش فایل‌های </a:t>
            </a:r>
            <a:r>
              <a:rPr lang="en-US" sz="1200" dirty="0">
                <a:latin typeface="Vazirmatn" pitchFamily="2" charset="-78"/>
                <a:cs typeface="+mj-cs"/>
              </a:rPr>
              <a:t>CSV</a:t>
            </a:r>
            <a:r>
              <a:rPr lang="fa-IR" sz="1200" dirty="0">
                <a:latin typeface="Vazirmatn" pitchFamily="2" charset="-78"/>
                <a:cs typeface="+mj-cs"/>
              </a:rPr>
              <a:t> اینورتر با مکانیزم ضد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شمارش مضاعف (</a:t>
            </a:r>
            <a:r>
              <a:rPr lang="en-US" sz="1200" dirty="0">
                <a:latin typeface="Vazirmatn" pitchFamily="2" charset="-78"/>
                <a:cs typeface="+mj-cs"/>
              </a:rPr>
              <a:t>Anti-Double Counting</a:t>
            </a:r>
            <a:r>
              <a:rPr lang="fa-IR" sz="1200" dirty="0">
                <a:latin typeface="Vazirmatn" pitchFamily="2" charset="-78"/>
                <a:cs typeface="+mj-cs"/>
              </a:rPr>
              <a:t>).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just" rtl="1"/>
            <a:r>
              <a:rPr lang="fa-IR" sz="1200" b="1" dirty="0">
                <a:latin typeface="Vazirmatn" pitchFamily="2" charset="-78"/>
                <a:cs typeface="+mj-cs"/>
              </a:rPr>
              <a:t>ماموریت سوم (اتصال اقلیمی و پیش‌بینی):</a:t>
            </a:r>
            <a:r>
              <a:rPr lang="fa-IR" sz="1200" dirty="0">
                <a:latin typeface="Vazirmatn" pitchFamily="2" charset="-78"/>
                <a:cs typeface="+mj-cs"/>
              </a:rPr>
              <a:t> پیاده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‌سازی موتور پیش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‌بینی هیبریدی با فراخوانی </a:t>
            </a:r>
            <a:r>
              <a:rPr lang="en-US" sz="1200" dirty="0">
                <a:latin typeface="Vazirmatn" pitchFamily="2" charset="-78"/>
                <a:cs typeface="+mj-cs"/>
              </a:rPr>
              <a:t>API</a:t>
            </a:r>
            <a:r>
              <a:rPr lang="fa-IR" sz="1200" dirty="0">
                <a:latin typeface="Vazirmatn" pitchFamily="2" charset="-78"/>
                <a:cs typeface="+mj-cs"/>
              </a:rPr>
              <a:t> های هواشناسی (</a:t>
            </a:r>
            <a:r>
              <a:rPr lang="en-US" sz="1200" b="1" dirty="0">
                <a:latin typeface="Vazirmatn" pitchFamily="2" charset="-78"/>
                <a:cs typeface="+mj-cs"/>
              </a:rPr>
              <a:t>NASA POWER</a:t>
            </a:r>
            <a:r>
              <a:rPr lang="fa-IR" sz="1200" dirty="0">
                <a:latin typeface="Vazirmatn" pitchFamily="2" charset="-78"/>
                <a:cs typeface="+mj-cs"/>
              </a:rPr>
              <a:t> و </a:t>
            </a:r>
            <a:r>
              <a:rPr lang="en-US" sz="1200" b="1" dirty="0">
                <a:latin typeface="Vazirmatn" pitchFamily="2" charset="-78"/>
                <a:cs typeface="+mj-cs"/>
              </a:rPr>
              <a:t>Open-</a:t>
            </a:r>
            <a:r>
              <a:rPr lang="en-US" sz="1200" b="1" dirty="0" err="1">
                <a:latin typeface="Vazirmatn" pitchFamily="2" charset="-78"/>
                <a:cs typeface="+mj-cs"/>
              </a:rPr>
              <a:t>Meteo</a:t>
            </a:r>
            <a:r>
              <a:rPr lang="fa-IR" sz="1200" dirty="0">
                <a:latin typeface="Vazirmatn" pitchFamily="2" charset="-78"/>
                <a:cs typeface="+mj-cs"/>
              </a:rPr>
              <a:t>).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just" rtl="1"/>
            <a:r>
              <a:rPr lang="fa-IR" sz="1200" b="1" dirty="0">
                <a:latin typeface="Vazirmatn" pitchFamily="2" charset="-78"/>
                <a:cs typeface="+mj-cs"/>
              </a:rPr>
              <a:t>ماموریت چهارم (پیاده ‌سازی رابط کاربری و استقرار):</a:t>
            </a:r>
            <a:r>
              <a:rPr lang="fa-IR" sz="1200" dirty="0">
                <a:latin typeface="Vazirmatn" pitchFamily="2" charset="-78"/>
                <a:cs typeface="+mj-cs"/>
              </a:rPr>
              <a:t> توسعه وب ‌اپلیکیشن با </a:t>
            </a:r>
            <a:r>
              <a:rPr lang="en-US" sz="1200" dirty="0">
                <a:latin typeface="Vazirmatn" pitchFamily="2" charset="-78"/>
                <a:cs typeface="+mj-cs"/>
              </a:rPr>
              <a:t>Python / </a:t>
            </a:r>
            <a:r>
              <a:rPr lang="en-US" sz="1200" dirty="0" err="1">
                <a:latin typeface="Vazirmatn" pitchFamily="2" charset="-78"/>
                <a:cs typeface="+mj-cs"/>
              </a:rPr>
              <a:t>Streamlit</a:t>
            </a:r>
            <a:r>
              <a:rPr lang="fa-IR" sz="1200" dirty="0">
                <a:latin typeface="Vazirmatn" pitchFamily="2" charset="-78"/>
                <a:cs typeface="+mj-cs"/>
              </a:rPr>
              <a:t> و استقرار ابری جهت مانیتورینگ زنده.</a:t>
            </a:r>
            <a:endParaRPr lang="en-US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8EC0298-FA82-D117-A094-232C8CADF48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90276A-7AAB-A644-9ED6-F2641DC66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50" y="1901371"/>
            <a:ext cx="3882171" cy="277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7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5983C-5CB3-7F6D-DFC4-971F79BF0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DB9426E6-63CB-0091-EC1A-CC0C18172769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روش اجرای طرح (مواد و روش‌ها)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A70CAA03-19B4-832E-D520-731D9345DCD7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5F067F57-DB93-1DE2-75B0-052E2C89FBFB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717A23FE-101B-DC64-129E-9284F635BBEF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ابزارها، تجهیزات و نرم‌افزارهای به‌کاررفته</a:t>
            </a:r>
            <a:endParaRPr lang="en-US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8D43A961-630A-F316-12C3-0F1970ACAD63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321FDC82-1F87-FDF4-1774-4DF0ED6FD3F3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>
            <a:extLst>
              <a:ext uri="{FF2B5EF4-FFF2-40B4-BE49-F238E27FC236}">
                <a16:creationId xmlns:a16="http://schemas.microsoft.com/office/drawing/2014/main" id="{8FF111A4-D205-790C-3077-76C6F4F053AE}"/>
              </a:ext>
            </a:extLst>
          </p:cNvPr>
          <p:cNvSpPr txBox="1"/>
          <p:nvPr/>
        </p:nvSpPr>
        <p:spPr>
          <a:xfrm>
            <a:off x="4800600" y="21488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زبان و فریم‌</a:t>
            </a:r>
            <a:r>
              <a:rPr lang="en-US" sz="1200" b="1" dirty="0">
                <a:latin typeface="Vazirmatn" pitchFamily="2" charset="-78"/>
                <a:cs typeface="+mj-cs"/>
              </a:rPr>
              <a:t> </a:t>
            </a:r>
            <a:r>
              <a:rPr lang="fa-IR" sz="1200" b="1" dirty="0">
                <a:latin typeface="Vazirmatn" pitchFamily="2" charset="-78"/>
                <a:cs typeface="+mj-cs"/>
              </a:rPr>
              <a:t>ورک برنامه‌</a:t>
            </a:r>
            <a:r>
              <a:rPr lang="en-US" sz="1200" b="1" dirty="0">
                <a:latin typeface="Vazirmatn" pitchFamily="2" charset="-78"/>
                <a:cs typeface="+mj-cs"/>
              </a:rPr>
              <a:t> </a:t>
            </a:r>
            <a:r>
              <a:rPr lang="fa-IR" sz="1200" b="1" dirty="0">
                <a:latin typeface="Vazirmatn" pitchFamily="2" charset="-78"/>
                <a:cs typeface="+mj-cs"/>
              </a:rPr>
              <a:t>نویسی:</a:t>
            </a:r>
            <a:r>
              <a:rPr lang="fa-IR" sz="1200" dirty="0">
                <a:latin typeface="Vazirmatn" pitchFamily="2" charset="-78"/>
                <a:cs typeface="+mj-cs"/>
              </a:rPr>
              <a:t> پایتون (</a:t>
            </a:r>
            <a:r>
              <a:rPr lang="en-US" sz="1200" dirty="0">
                <a:latin typeface="Vazirmatn" pitchFamily="2" charset="-78"/>
                <a:cs typeface="+mj-cs"/>
              </a:rPr>
              <a:t>Python</a:t>
            </a:r>
            <a:r>
              <a:rPr lang="fa-IR" sz="1200" dirty="0">
                <a:latin typeface="Vazirmatn" pitchFamily="2" charset="-78"/>
                <a:cs typeface="+mj-cs"/>
              </a:rPr>
              <a:t>) و </a:t>
            </a:r>
            <a:r>
              <a:rPr lang="en-US" sz="1200" dirty="0" err="1">
                <a:latin typeface="Vazirmatn" pitchFamily="2" charset="-78"/>
                <a:cs typeface="+mj-cs"/>
              </a:rPr>
              <a:t>Streamlit</a:t>
            </a:r>
            <a:r>
              <a:rPr lang="fa-IR" sz="1200" dirty="0">
                <a:latin typeface="Vazirmatn" pitchFamily="2" charset="-78"/>
                <a:cs typeface="+mj-cs"/>
              </a:rPr>
              <a:t> برای توسعه وب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‌اپلیکیشن.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پایگاه داده: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en-US" sz="1200" dirty="0">
                <a:latin typeface="Vazirmatn" pitchFamily="2" charset="-78"/>
                <a:cs typeface="+mj-cs"/>
              </a:rPr>
              <a:t>SQLite</a:t>
            </a:r>
            <a:r>
              <a:rPr lang="fa-IR" sz="1200" dirty="0">
                <a:latin typeface="Vazirmatn" pitchFamily="2" charset="-78"/>
                <a:cs typeface="+mj-cs"/>
              </a:rPr>
              <a:t> جهت ذخیره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‌سازی داده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‌های کاربران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 و نیروگاه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fa-IR" sz="1200" dirty="0">
                <a:latin typeface="Vazirmatn" pitchFamily="2" charset="-78"/>
                <a:cs typeface="+mj-cs"/>
              </a:rPr>
              <a:t>‌ها.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en-US" sz="1200" b="1" dirty="0">
                <a:latin typeface="Vazirmatn" pitchFamily="2" charset="-78"/>
                <a:cs typeface="+mj-cs"/>
              </a:rPr>
              <a:t>API</a:t>
            </a:r>
            <a:r>
              <a:rPr lang="fa-IR" sz="1200" b="1" dirty="0">
                <a:latin typeface="Vazirmatn" pitchFamily="2" charset="-78"/>
                <a:cs typeface="+mj-cs"/>
              </a:rPr>
              <a:t> </a:t>
            </a:r>
            <a:r>
              <a:rPr lang="en-US" sz="1200" b="1" dirty="0">
                <a:latin typeface="Vazirmatn" pitchFamily="2" charset="-78"/>
                <a:cs typeface="+mj-cs"/>
              </a:rPr>
              <a:t> </a:t>
            </a:r>
            <a:r>
              <a:rPr lang="fa-IR" sz="1200" b="1" dirty="0">
                <a:latin typeface="Vazirmatn" pitchFamily="2" charset="-78"/>
                <a:cs typeface="+mj-cs"/>
              </a:rPr>
              <a:t>های اقلیمی: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en-US" sz="1200" dirty="0">
                <a:latin typeface="Vazirmatn" pitchFamily="2" charset="-78"/>
                <a:cs typeface="+mj-cs"/>
              </a:rPr>
              <a:t>NASA POWER API</a:t>
            </a:r>
            <a:r>
              <a:rPr lang="fa-IR" sz="1200" dirty="0">
                <a:latin typeface="Vazirmatn" pitchFamily="2" charset="-78"/>
                <a:cs typeface="+mj-cs"/>
              </a:rPr>
              <a:t> و </a:t>
            </a:r>
            <a:r>
              <a:rPr lang="en-US" sz="1200" dirty="0">
                <a:latin typeface="Vazirmatn" pitchFamily="2" charset="-78"/>
                <a:cs typeface="+mj-cs"/>
              </a:rPr>
              <a:t>Open-</a:t>
            </a:r>
            <a:r>
              <a:rPr lang="en-US" sz="1200" dirty="0" err="1">
                <a:latin typeface="Vazirmatn" pitchFamily="2" charset="-78"/>
                <a:cs typeface="+mj-cs"/>
              </a:rPr>
              <a:t>Meteo</a:t>
            </a:r>
            <a:r>
              <a:rPr lang="fa-IR" sz="1200" dirty="0">
                <a:latin typeface="Vazirmatn" pitchFamily="2" charset="-78"/>
                <a:cs typeface="+mj-cs"/>
              </a:rPr>
              <a:t> جهت تحلیل داده ‌های تابش و دما.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محیط توسعه: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en-US" sz="1200" dirty="0">
                <a:latin typeface="Vazirmatn" pitchFamily="2" charset="-78"/>
                <a:cs typeface="+mj-cs"/>
              </a:rPr>
              <a:t>GitHub</a:t>
            </a:r>
            <a:r>
              <a:rPr lang="fa-IR" sz="1200" dirty="0">
                <a:latin typeface="Vazirmatn" pitchFamily="2" charset="-78"/>
                <a:cs typeface="+mj-cs"/>
              </a:rPr>
              <a:t> و پلتفرم‌ های ابری (جهت تست و استقرار نهایی).</a:t>
            </a:r>
            <a:endParaRPr lang="en-US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00A4590-ED1F-AE0B-9CDE-64C415235E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66218C-1593-FA6B-B9A4-63B6A6A77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84680"/>
            <a:ext cx="3256280" cy="13013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F3C14A-F9E4-DEB2-5FA7-86B53EE2CB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56982"/>
            <a:ext cx="3256280" cy="134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287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CF88-71F4-0C8A-64DB-F5D2057C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837FB6CA-7F31-3F3B-3E73-256F1AE89A95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روش اجرای طرح (مواد و روش‌ها)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809A2E3C-82B4-E493-ABAA-EB7E61DFBE39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27AACB13-15BD-D919-0593-440307688981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A75F3890-4F36-FB41-8911-0D92D33EAF76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آزمایش ‌ها و ارزیابی‌ های انجام ‌شده</a:t>
            </a:r>
            <a:endParaRPr lang="en-US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C53DED11-BDDC-B725-8176-62B8C2C5E7DA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50965EEF-C0F8-9469-10D3-17A2C51F57A2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>
            <a:extLst>
              <a:ext uri="{FF2B5EF4-FFF2-40B4-BE49-F238E27FC236}">
                <a16:creationId xmlns:a16="http://schemas.microsoft.com/office/drawing/2014/main" id="{958CE94B-8075-0D4B-9542-A5E2CFB8E127}"/>
              </a:ext>
            </a:extLst>
          </p:cNvPr>
          <p:cNvSpPr txBox="1"/>
          <p:nvPr/>
        </p:nvSpPr>
        <p:spPr>
          <a:xfrm>
            <a:off x="4800600" y="21488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dirty="0">
                <a:latin typeface="Vazirmatn" pitchFamily="2" charset="-78"/>
                <a:cs typeface="+mj-cs"/>
              </a:rPr>
              <a:t>تست صحت الگوریتم پالایش داده با فایل‌های نمونه (</a:t>
            </a:r>
            <a:r>
              <a:rPr lang="en-US" sz="1200" dirty="0">
                <a:latin typeface="Vazirmatn" pitchFamily="2" charset="-78"/>
                <a:cs typeface="+mj-cs"/>
              </a:rPr>
              <a:t>CSV</a:t>
            </a:r>
            <a:r>
              <a:rPr lang="fa-IR" sz="1200" dirty="0">
                <a:latin typeface="Vazirmatn" pitchFamily="2" charset="-78"/>
                <a:cs typeface="+mj-cs"/>
              </a:rPr>
              <a:t>) و داده‌های واقعی نیروگاه‌ها.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dirty="0">
                <a:latin typeface="Vazirmatn" pitchFamily="2" charset="-78"/>
                <a:cs typeface="+mj-cs"/>
              </a:rPr>
              <a:t>ارزیابی دقت پیش‌بینی تولید ماهانه در شرایط اقلیمی مختلف.</a:t>
            </a:r>
            <a:endParaRPr lang="en-US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09219F4-CE4B-B4B3-3191-9701A73D7C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99493D-09CD-1AC1-18D6-B2CDEBC3C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148840"/>
            <a:ext cx="3931920" cy="216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7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معماری و فناوری‌های به‌کار رفته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اجزای اصلی سیستم (معماری دوهسته‌ای)</a:t>
            </a:r>
            <a:endParaRPr lang="fa-IR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/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/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/>
          <p:cNvSpPr txBox="1"/>
          <p:nvPr/>
        </p:nvSpPr>
        <p:spPr>
          <a:xfrm>
            <a:off x="480060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هسته پردازش داده:</a:t>
            </a:r>
            <a:r>
              <a:rPr lang="fa-IR" sz="1200" dirty="0">
                <a:latin typeface="Vazirmatn" pitchFamily="2" charset="-78"/>
                <a:cs typeface="+mj-cs"/>
              </a:rPr>
              <a:t> دریافت و پالایش فایل‌های </a:t>
            </a:r>
            <a:r>
              <a:rPr lang="en-US" sz="1200" dirty="0">
                <a:latin typeface="Vazirmatn" pitchFamily="2" charset="-78"/>
                <a:cs typeface="+mj-cs"/>
              </a:rPr>
              <a:t>CSV</a:t>
            </a:r>
            <a:r>
              <a:rPr lang="fa-IR" sz="1200" dirty="0">
                <a:latin typeface="Vazirmatn" pitchFamily="2" charset="-78"/>
                <a:cs typeface="+mj-cs"/>
              </a:rPr>
              <a:t> اینورتر با الگوریتم ضدشمارش مضاعف (</a:t>
            </a:r>
            <a:r>
              <a:rPr lang="en-US" sz="1200" i="1" dirty="0">
                <a:latin typeface="Vazirmatn" pitchFamily="2" charset="-78"/>
                <a:cs typeface="+mj-cs"/>
              </a:rPr>
              <a:t>Anti-Double Counting</a:t>
            </a:r>
            <a:r>
              <a:rPr lang="fa-IR" sz="1200" dirty="0">
                <a:latin typeface="Vazirmatn" pitchFamily="2" charset="-78"/>
                <a:cs typeface="+mj-cs"/>
              </a:rPr>
              <a:t>).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هسته پیش‌بینی اقلیمی:</a:t>
            </a:r>
            <a:r>
              <a:rPr lang="fa-IR" sz="1200" dirty="0">
                <a:latin typeface="Vazirmatn" pitchFamily="2" charset="-78"/>
                <a:cs typeface="+mj-cs"/>
              </a:rPr>
              <a:t> ادغام داده‌های زنده </a:t>
            </a:r>
            <a:r>
              <a:rPr lang="en-US" sz="1200" dirty="0">
                <a:latin typeface="Vazirmatn" pitchFamily="2" charset="-78"/>
                <a:cs typeface="+mj-cs"/>
              </a:rPr>
              <a:t>NASA POWER</a:t>
            </a:r>
            <a:r>
              <a:rPr lang="fa-IR" sz="1200" dirty="0">
                <a:latin typeface="Vazirmatn" pitchFamily="2" charset="-78"/>
                <a:cs typeface="+mj-cs"/>
              </a:rPr>
              <a:t> و </a:t>
            </a:r>
            <a:r>
              <a:rPr lang="en-US" sz="1200" dirty="0">
                <a:latin typeface="Vazirmatn" pitchFamily="2" charset="-78"/>
                <a:cs typeface="+mj-cs"/>
              </a:rPr>
              <a:t>Open-</a:t>
            </a:r>
            <a:r>
              <a:rPr lang="en-US" sz="1200" dirty="0" err="1">
                <a:latin typeface="Vazirmatn" pitchFamily="2" charset="-78"/>
                <a:cs typeface="+mj-cs"/>
              </a:rPr>
              <a:t>Meteo</a:t>
            </a:r>
            <a:r>
              <a:rPr lang="fa-IR" sz="1200" dirty="0">
                <a:latin typeface="Vazirmatn" pitchFamily="2" charset="-78"/>
                <a:cs typeface="+mj-cs"/>
              </a:rPr>
              <a:t> برای تخمین دقیق تولید ماه آتی.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marL="342900" indent="-342900" algn="r" rtl="1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endParaRPr lang="fa-IR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262AB8-838E-031A-97C1-CC0C7B74C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107" y="1948180"/>
            <a:ext cx="2634106" cy="2687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012C-3879-3630-E851-94CB3A60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EC33B6A3-2C3B-CBD7-5531-ED66AB776716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معماری و فناوری‌های به‌کار رفته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9F76E76E-98B5-8E7E-F6DA-E23362C0A89C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1EC5A7CC-12CD-32AF-476C-2AD0260FC14F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564BB2CC-D256-FB3A-CB23-0E314AF272F1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زبان‌ها، چارچوب‌ها و پایگاه داده:</a:t>
            </a:r>
            <a:endParaRPr lang="en-US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6FB5CA77-C148-4151-4F71-65471032E272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6A5DBD00-EF8F-BE38-7C34-5E7E05E71F20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>
            <a:extLst>
              <a:ext uri="{FF2B5EF4-FFF2-40B4-BE49-F238E27FC236}">
                <a16:creationId xmlns:a16="http://schemas.microsoft.com/office/drawing/2014/main" id="{85DAF12D-862A-7184-BEEB-5D82A2869227}"/>
              </a:ext>
            </a:extLst>
          </p:cNvPr>
          <p:cNvSpPr txBox="1"/>
          <p:nvPr/>
        </p:nvSpPr>
        <p:spPr>
          <a:xfrm>
            <a:off x="4797706" y="1907508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زبان برنامه‌نویسی: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en-US" sz="1200" dirty="0">
                <a:latin typeface="Vazirmatn" pitchFamily="2" charset="-78"/>
                <a:cs typeface="+mj-cs"/>
              </a:rPr>
              <a:t>Python 3.11</a:t>
            </a:r>
          </a:p>
          <a:p>
            <a:pPr algn="r" rtl="1">
              <a:lnSpc>
                <a:spcPct val="150000"/>
              </a:lnSpc>
            </a:pP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رابط کاربری (</a:t>
            </a:r>
            <a:r>
              <a:rPr lang="en-US" sz="1200" b="1" dirty="0">
                <a:latin typeface="Vazirmatn" pitchFamily="2" charset="-78"/>
                <a:cs typeface="+mj-cs"/>
              </a:rPr>
              <a:t>UI</a:t>
            </a:r>
            <a:r>
              <a:rPr lang="fa-IR" sz="1200" b="1" dirty="0">
                <a:latin typeface="Vazirmatn" pitchFamily="2" charset="-78"/>
                <a:cs typeface="+mj-cs"/>
              </a:rPr>
              <a:t>):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en-US" sz="1200" dirty="0" err="1">
                <a:latin typeface="Vazirmatn" pitchFamily="2" charset="-78"/>
                <a:cs typeface="+mj-cs"/>
              </a:rPr>
              <a:t>Streamlit</a:t>
            </a:r>
            <a:r>
              <a:rPr lang="fa-IR" sz="1200" dirty="0">
                <a:latin typeface="Vazirmatn" pitchFamily="2" charset="-78"/>
                <a:cs typeface="+mj-cs"/>
              </a:rPr>
              <a:t> + کتابخانه‌های گرافیکی </a:t>
            </a:r>
            <a:r>
              <a:rPr lang="en-US" sz="1200" dirty="0">
                <a:latin typeface="Vazirmatn" pitchFamily="2" charset="-78"/>
                <a:cs typeface="+mj-cs"/>
              </a:rPr>
              <a:t>Altair</a:t>
            </a:r>
          </a:p>
          <a:p>
            <a:pPr algn="r" rtl="1">
              <a:lnSpc>
                <a:spcPct val="150000"/>
              </a:lnSpc>
            </a:pP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پایگاه داده محلی: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en-US" sz="1200" dirty="0">
                <a:latin typeface="Vazirmatn" pitchFamily="2" charset="-78"/>
                <a:cs typeface="+mj-cs"/>
              </a:rPr>
              <a:t>SQLite</a:t>
            </a:r>
            <a:r>
              <a:rPr lang="fa-IR" sz="1200" dirty="0">
                <a:latin typeface="Vazirmatn" pitchFamily="2" charset="-78"/>
                <a:cs typeface="+mj-cs"/>
              </a:rPr>
              <a:t> (</a:t>
            </a:r>
            <a:r>
              <a:rPr lang="en-US" sz="1200" dirty="0" err="1">
                <a:latin typeface="Vazirmatn" pitchFamily="2" charset="-78"/>
                <a:cs typeface="+mj-cs"/>
              </a:rPr>
              <a:t>greenmine.db</a:t>
            </a:r>
            <a:r>
              <a:rPr lang="fa-IR" sz="1200" dirty="0">
                <a:latin typeface="Vazirmatn" pitchFamily="2" charset="-78"/>
                <a:cs typeface="+mj-cs"/>
              </a:rPr>
              <a:t>) با ساختار بهینه برای مدیریت نیروگاه‌ها و گواهی کربن.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marL="342900" indent="-342900" algn="r" rtl="1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endParaRPr lang="fa-IR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7F91F0F-2190-12A1-4829-BE4AB69C95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EA22A6-E4C8-BAE9-23D5-6942A7F57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585"/>
          <a:stretch>
            <a:fillRect/>
          </a:stretch>
        </p:blipFill>
        <p:spPr>
          <a:xfrm>
            <a:off x="1044793" y="1907508"/>
            <a:ext cx="2756733" cy="275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78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DC04A-49A3-7C46-7C7C-BEA4EF7A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889AA185-B3B2-449B-7921-2B78AA8594D1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معماری و فناوری‌های به‌کار رفته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2974C762-BAE1-B22E-40D0-D0F1706FF381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D42A1BEA-CBE5-3E9D-4186-0DD9969258A9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D66C87EB-8EE1-8595-0F46-452A79ECA1BC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الگوریتم‌ها و فرمول‌های کلیدی</a:t>
            </a:r>
          </a:p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امنیت و مقیاس‌پذیری</a:t>
            </a:r>
            <a:endParaRPr lang="en-US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AE475B20-68C3-A1C6-9F7C-B38E0622DF4E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03297882-7FEC-EAA7-4F46-ABC51437615D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>
            <a:extLst>
              <a:ext uri="{FF2B5EF4-FFF2-40B4-BE49-F238E27FC236}">
                <a16:creationId xmlns:a16="http://schemas.microsoft.com/office/drawing/2014/main" id="{5040AD02-3159-1255-9BE6-497F5A6DF503}"/>
              </a:ext>
            </a:extLst>
          </p:cNvPr>
          <p:cNvSpPr txBox="1"/>
          <p:nvPr/>
        </p:nvSpPr>
        <p:spPr>
          <a:xfrm>
            <a:off x="4667250" y="2006003"/>
            <a:ext cx="39243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rtl="1">
              <a:lnSpc>
                <a:spcPct val="150000"/>
              </a:lnSpc>
            </a:pPr>
            <a:r>
              <a:rPr lang="fa-IR" sz="1200" dirty="0">
                <a:latin typeface="Vazirmatn" pitchFamily="2" charset="-78"/>
                <a:cs typeface="+mj-cs"/>
              </a:rPr>
              <a:t>- فرمول محاسبه پیش‌بینی تولید مبتنی بر تابش و راندمان پنل‌ها</a:t>
            </a:r>
          </a:p>
          <a:p>
            <a:pPr algn="just" rtl="1">
              <a:lnSpc>
                <a:spcPct val="150000"/>
              </a:lnSpc>
            </a:pPr>
            <a:r>
              <a:rPr lang="fa-IR" sz="1200" dirty="0">
                <a:latin typeface="Vazirmatn" pitchFamily="2" charset="-78"/>
                <a:cs typeface="+mj-cs"/>
              </a:rPr>
              <a:t>- ترکیب هوشمند پیش‌بینی ۱۵ روزه (</a:t>
            </a:r>
            <a:r>
              <a:rPr lang="en-US" sz="1200" dirty="0">
                <a:latin typeface="Vazirmatn" pitchFamily="2" charset="-78"/>
                <a:cs typeface="+mj-cs"/>
              </a:rPr>
              <a:t>Open-</a:t>
            </a:r>
            <a:r>
              <a:rPr lang="en-US" sz="1200" dirty="0" err="1">
                <a:latin typeface="Vazirmatn" pitchFamily="2" charset="-78"/>
                <a:cs typeface="+mj-cs"/>
              </a:rPr>
              <a:t>Meteo</a:t>
            </a:r>
            <a:r>
              <a:rPr lang="fa-IR" sz="1200" dirty="0">
                <a:latin typeface="Vazirmatn" pitchFamily="2" charset="-78"/>
                <a:cs typeface="+mj-cs"/>
              </a:rPr>
              <a:t>) با داده‌های  اقلیمی بلندمدت (</a:t>
            </a:r>
            <a:r>
              <a:rPr lang="en-US" sz="1200" dirty="0">
                <a:latin typeface="Vazirmatn" pitchFamily="2" charset="-78"/>
                <a:cs typeface="+mj-cs"/>
              </a:rPr>
              <a:t>NASA</a:t>
            </a:r>
            <a:r>
              <a:rPr lang="fa-IR" sz="1200" dirty="0">
                <a:latin typeface="Vazirmatn" pitchFamily="2" charset="-78"/>
                <a:cs typeface="+mj-cs"/>
              </a:rPr>
              <a:t>) برای روزهای باقیمانده ماه.</a:t>
            </a:r>
          </a:p>
          <a:p>
            <a:pPr algn="just" rtl="1">
              <a:lnSpc>
                <a:spcPct val="150000"/>
              </a:lnSpc>
            </a:pPr>
            <a:r>
              <a:rPr lang="fa-IR" sz="1200" dirty="0">
                <a:latin typeface="Vazirmatn" pitchFamily="2" charset="-78"/>
                <a:cs typeface="+mj-cs"/>
              </a:rPr>
              <a:t>محاسبه کربن صرفه جویی با استفاده از ضریب انتشار کربن در ایران</a:t>
            </a:r>
          </a:p>
          <a:p>
            <a:pPr algn="just" rtl="1">
              <a:lnSpc>
                <a:spcPct val="150000"/>
              </a:lnSpc>
            </a:pPr>
            <a:endParaRPr lang="fa-IR" sz="1200" dirty="0">
              <a:latin typeface="Vazirmatn" pitchFamily="2" charset="-78"/>
              <a:cs typeface="+mj-cs"/>
            </a:endParaRPr>
          </a:p>
          <a:p>
            <a:pPr algn="just" rtl="1">
              <a:lnSpc>
                <a:spcPct val="150000"/>
              </a:lnSpc>
            </a:pPr>
            <a:r>
              <a:rPr lang="fa-IR" sz="1200" dirty="0">
                <a:latin typeface="Vazirmatn" pitchFamily="2" charset="-78"/>
                <a:cs typeface="+mj-cs"/>
              </a:rPr>
              <a:t>- احراز هویت دوعاملی (</a:t>
            </a:r>
            <a:r>
              <a:rPr lang="en-US" sz="1200" dirty="0">
                <a:latin typeface="Vazirmatn" pitchFamily="2" charset="-78"/>
                <a:cs typeface="+mj-cs"/>
              </a:rPr>
              <a:t>OTP</a:t>
            </a:r>
            <a:r>
              <a:rPr lang="fa-IR" sz="1200" dirty="0">
                <a:latin typeface="Vazirmatn" pitchFamily="2" charset="-78"/>
                <a:cs typeface="+mj-cs"/>
              </a:rPr>
              <a:t>) با کدهای ۶ رقمی و انقضای ۱۰ دقیقه‌ای.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just" rtl="1">
              <a:lnSpc>
                <a:spcPct val="150000"/>
              </a:lnSpc>
            </a:pPr>
            <a:r>
              <a:rPr lang="fa-IR" sz="1200" dirty="0">
                <a:latin typeface="Vazirmatn" pitchFamily="2" charset="-78"/>
                <a:cs typeface="+mj-cs"/>
              </a:rPr>
              <a:t>- ذخیره‌سازی امن پسوردها و توکن‌ها با هشینگ استاندارد (</a:t>
            </a:r>
            <a:r>
              <a:rPr lang="en-US" sz="1200" dirty="0">
                <a:latin typeface="Vazirmatn" pitchFamily="2" charset="-78"/>
                <a:cs typeface="+mj-cs"/>
              </a:rPr>
              <a:t>SHA-256</a:t>
            </a:r>
            <a:r>
              <a:rPr lang="fa-IR" sz="1200" dirty="0">
                <a:latin typeface="Vazirmatn" pitchFamily="2" charset="-78"/>
                <a:cs typeface="+mj-cs"/>
              </a:rPr>
              <a:t>).</a:t>
            </a:r>
            <a:endParaRPr lang="en-US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DF6C9A3-4EA3-B5F0-B721-C9D43F061F1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946C6-7CD4-8E1D-E537-3FB75D68C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20" y="1997136"/>
            <a:ext cx="1880800" cy="26030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DDC580-E9E9-0B93-1C4D-D0F6875DF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66" y="2000880"/>
            <a:ext cx="1880800" cy="260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126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نمایش نرم‌افزار و محیط کاربری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fa-IR" altLang="en-US" sz="11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توضیح: </a:t>
            </a:r>
            <a:r>
              <a:rPr lang="fa-IR" altLang="en-US" sz="1100" b="1" dirty="0">
                <a:latin typeface="Vazirmatn" pitchFamily="2" charset="-78"/>
                <a:cs typeface="+mj-cs"/>
              </a:rPr>
              <a:t>نرم افزار در مرحله فارسی سازی و قرار گیری در بستر وب به آدرس </a:t>
            </a:r>
            <a:r>
              <a:rPr lang="en-US" altLang="en-US" sz="1100" b="1" dirty="0">
                <a:latin typeface="Vazirmatn" pitchFamily="2" charset="-78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www.greenmineapp.ir</a:t>
            </a:r>
            <a:r>
              <a:rPr lang="en-US" altLang="en-US" sz="1100" b="1" dirty="0">
                <a:latin typeface="Vazirmatn" pitchFamily="2" charset="-78"/>
                <a:cs typeface="+mj-cs"/>
              </a:rPr>
              <a:t> </a:t>
            </a:r>
            <a:r>
              <a:rPr lang="fa-IR" altLang="en-US" sz="1100" b="1" dirty="0">
                <a:latin typeface="Vazirmatn" pitchFamily="2" charset="-78"/>
                <a:cs typeface="+mj-cs"/>
              </a:rPr>
              <a:t> به همراه نسخه اپلیکیشن اندروید و امکان گزارش در قالب </a:t>
            </a:r>
            <a:r>
              <a:rPr lang="en-US" altLang="en-US" sz="1100" b="1" dirty="0">
                <a:latin typeface="Vazirmatn" pitchFamily="2" charset="-78"/>
                <a:cs typeface="+mj-cs"/>
              </a:rPr>
              <a:t>pdf</a:t>
            </a:r>
            <a:r>
              <a:rPr lang="fa-IR" altLang="en-US" sz="1100" b="1" dirty="0">
                <a:latin typeface="Vazirmatn" pitchFamily="2" charset="-78"/>
                <a:cs typeface="+mj-cs"/>
              </a:rPr>
              <a:t> است و طی روزهای آتی با قالب گرافیکی بهینه قابل مشاهده است.</a:t>
            </a:r>
            <a:endParaRPr lang="fa-IR" sz="1100" dirty="0">
              <a:latin typeface="Vazirmatn" pitchFamily="2" charset="-78"/>
              <a:cs typeface="+mj-cs"/>
            </a:endParaRPr>
          </a:p>
        </p:txBody>
      </p:sp>
      <p:sp>
        <p:nvSpPr>
          <p:cNvPr id="7" name="Image drop area"/>
          <p:cNvSpPr/>
          <p:nvPr/>
        </p:nvSpPr>
        <p:spPr>
          <a:xfrm>
            <a:off x="60960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Caption"/>
          <p:cNvSpPr txBox="1"/>
          <p:nvPr/>
        </p:nvSpPr>
        <p:spPr>
          <a:xfrm>
            <a:off x="6096000" y="4370832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200" b="1" dirty="0">
                <a:solidFill>
                  <a:schemeClr val="tx2"/>
                </a:solidFill>
              </a:rPr>
              <a:t>صفحهٔ اصلی</a:t>
            </a:r>
            <a:endParaRPr lang="fa-IR" sz="1200" dirty="0"/>
          </a:p>
        </p:txBody>
      </p:sp>
      <p:sp>
        <p:nvSpPr>
          <p:cNvPr id="10" name="Image drop area"/>
          <p:cNvSpPr/>
          <p:nvPr/>
        </p:nvSpPr>
        <p:spPr>
          <a:xfrm>
            <a:off x="32766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2" name="Caption"/>
          <p:cNvSpPr txBox="1"/>
          <p:nvPr/>
        </p:nvSpPr>
        <p:spPr>
          <a:xfrm>
            <a:off x="3276600" y="4370832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200" b="1" dirty="0">
                <a:solidFill>
                  <a:schemeClr val="tx2"/>
                </a:solidFill>
              </a:rPr>
              <a:t>قابلیت کلیدی ۱</a:t>
            </a:r>
            <a:endParaRPr lang="fa-IR" sz="1200" dirty="0"/>
          </a:p>
        </p:txBody>
      </p:sp>
      <p:sp>
        <p:nvSpPr>
          <p:cNvPr id="13" name="Image drop area"/>
          <p:cNvSpPr/>
          <p:nvPr/>
        </p:nvSpPr>
        <p:spPr>
          <a:xfrm>
            <a:off x="4572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Caption"/>
          <p:cNvSpPr txBox="1"/>
          <p:nvPr/>
        </p:nvSpPr>
        <p:spPr>
          <a:xfrm>
            <a:off x="457200" y="4370832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200" b="1" dirty="0">
                <a:solidFill>
                  <a:schemeClr val="tx2"/>
                </a:solidFill>
              </a:rPr>
              <a:t>قابلیت کلیدی ۲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4E4ED5-9B9A-6DE6-DD21-09295D27C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67943"/>
            <a:ext cx="2590801" cy="17431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DCBD3CB-80E0-4F06-556C-B5F409867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038502"/>
            <a:ext cx="2590800" cy="17725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F1BBFB-223C-6780-1353-54A184BDB6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82" y="2031418"/>
            <a:ext cx="2608235" cy="1501288"/>
          </a:xfrm>
          <a:prstGeom prst="rect">
            <a:avLst/>
          </a:prstGeom>
        </p:spPr>
      </p:pic>
      <p:sp>
        <p:nvSpPr>
          <p:cNvPr id="22" name="Rectangle: Rounded Corners 21">
            <a:hlinkClick r:id="rId7"/>
            <a:extLst>
              <a:ext uri="{FF2B5EF4-FFF2-40B4-BE49-F238E27FC236}">
                <a16:creationId xmlns:a16="http://schemas.microsoft.com/office/drawing/2014/main" id="{F2109859-83DA-AE0A-F6CD-70D89487F716}"/>
              </a:ext>
            </a:extLst>
          </p:cNvPr>
          <p:cNvSpPr/>
          <p:nvPr/>
        </p:nvSpPr>
        <p:spPr>
          <a:xfrm>
            <a:off x="6419485" y="3912084"/>
            <a:ext cx="1943830" cy="292157"/>
          </a:xfrm>
          <a:prstGeom prst="roundRect">
            <a:avLst/>
          </a:prstGeom>
          <a:solidFill>
            <a:srgbClr val="66FF33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050" dirty="0">
                <a:solidFill>
                  <a:schemeClr val="tx1"/>
                </a:solidFill>
                <a:latin typeface="Vazirmatn" pitchFamily="2" charset="-78"/>
                <a:cs typeface="+mj-cs"/>
              </a:rPr>
              <a:t>لینک دریافت ویدئو عملکرد برنامه</a:t>
            </a:r>
            <a:endParaRPr lang="en-US" sz="1050" dirty="0">
              <a:solidFill>
                <a:schemeClr val="tx1"/>
              </a:solidFill>
              <a:latin typeface="Vazirmatn" pitchFamily="2" charset="-78"/>
              <a:cs typeface="+mj-c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867689E-E0F5-EAA3-BE38-D382AF098F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3455" y="3558966"/>
            <a:ext cx="530688" cy="530688"/>
          </a:xfrm>
          <a:prstGeom prst="rect">
            <a:avLst/>
          </a:prstGeom>
        </p:spPr>
      </p:pic>
      <p:sp>
        <p:nvSpPr>
          <p:cNvPr id="27" name="Caption">
            <a:extLst>
              <a:ext uri="{FF2B5EF4-FFF2-40B4-BE49-F238E27FC236}">
                <a16:creationId xmlns:a16="http://schemas.microsoft.com/office/drawing/2014/main" id="{6E18698B-7723-D645-87AB-4C4A6E0CF525}"/>
              </a:ext>
            </a:extLst>
          </p:cNvPr>
          <p:cNvSpPr txBox="1"/>
          <p:nvPr/>
        </p:nvSpPr>
        <p:spPr>
          <a:xfrm>
            <a:off x="1926271" y="4089654"/>
            <a:ext cx="905056" cy="133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600" b="1" dirty="0">
                <a:latin typeface="Vazirmatn" pitchFamily="2" charset="-78"/>
                <a:cs typeface="+mj-cs"/>
              </a:rPr>
              <a:t>دریافت ویدئو عملکرد نرم افزار</a:t>
            </a:r>
            <a:endParaRPr lang="fa-IR" sz="600" dirty="0">
              <a:latin typeface="Vazirmatn" pitchFamily="2" charset="-78"/>
              <a:cs typeface="+mj-cs"/>
            </a:endParaRPr>
          </a:p>
        </p:txBody>
      </p:sp>
      <p:sp>
        <p:nvSpPr>
          <p:cNvPr id="29" name="Rectangle: Rounded Corners 28">
            <a:hlinkClick r:id="rId9"/>
            <a:extLst>
              <a:ext uri="{FF2B5EF4-FFF2-40B4-BE49-F238E27FC236}">
                <a16:creationId xmlns:a16="http://schemas.microsoft.com/office/drawing/2014/main" id="{B42A9C08-1D5D-E829-F987-09919D1F3C96}"/>
              </a:ext>
            </a:extLst>
          </p:cNvPr>
          <p:cNvSpPr/>
          <p:nvPr/>
        </p:nvSpPr>
        <p:spPr>
          <a:xfrm>
            <a:off x="3680460" y="3908296"/>
            <a:ext cx="1885188" cy="292157"/>
          </a:xfrm>
          <a:prstGeom prst="roundRect">
            <a:avLst/>
          </a:prstGeom>
          <a:solidFill>
            <a:srgbClr val="66FF33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050" dirty="0">
                <a:solidFill>
                  <a:schemeClr val="tx1"/>
                </a:solidFill>
                <a:latin typeface="Vazirmatn" pitchFamily="2" charset="-78"/>
                <a:cs typeface="+mj-cs"/>
              </a:rPr>
              <a:t>لینک دریافت ویدئو معرفی پروژه</a:t>
            </a:r>
            <a:endParaRPr lang="en-US" sz="1050" dirty="0">
              <a:solidFill>
                <a:schemeClr val="tx1"/>
              </a:solidFill>
              <a:latin typeface="Vazirmatn" pitchFamily="2" charset="-78"/>
              <a:cs typeface="+mj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CA781E5-9ED3-F8A9-7849-73E32C000B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754" y="3552868"/>
            <a:ext cx="532214" cy="532214"/>
          </a:xfrm>
          <a:prstGeom prst="rect">
            <a:avLst/>
          </a:prstGeom>
        </p:spPr>
      </p:pic>
      <p:sp>
        <p:nvSpPr>
          <p:cNvPr id="33" name="Caption">
            <a:extLst>
              <a:ext uri="{FF2B5EF4-FFF2-40B4-BE49-F238E27FC236}">
                <a16:creationId xmlns:a16="http://schemas.microsoft.com/office/drawing/2014/main" id="{E8D6B36C-6BB8-33E5-1CC8-1F7459D443CB}"/>
              </a:ext>
            </a:extLst>
          </p:cNvPr>
          <p:cNvSpPr txBox="1"/>
          <p:nvPr/>
        </p:nvSpPr>
        <p:spPr>
          <a:xfrm>
            <a:off x="587333" y="4085082"/>
            <a:ext cx="905056" cy="133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600" b="1" dirty="0">
                <a:latin typeface="Vazirmatn" pitchFamily="2" charset="-78"/>
                <a:cs typeface="+mj-cs"/>
              </a:rPr>
              <a:t>دریافت ویدئو معرفی پروژه</a:t>
            </a:r>
            <a:endParaRPr lang="fa-IR" sz="600" dirty="0">
              <a:latin typeface="Vazirmatn" pitchFamily="2" charset="-78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آزمون و ارزیابی کارایی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1650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1650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1650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کارایی نرم‌افزار با معیارهای قابل‌اندازه‌گیری و در مقایسه با نمونه‌های مشابه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graphicFrame>
        <p:nvGraphicFramePr>
          <p:cNvPr id="11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9374057"/>
              </p:ext>
            </p:extLst>
          </p:nvPr>
        </p:nvGraphicFramePr>
        <p:xfrm>
          <a:off x="457200" y="1676400"/>
          <a:ext cx="8229600" cy="2926080"/>
        </p:xfrm>
        <a:graphic>
          <a:graphicData uri="http://schemas.openxmlformats.org/drawingml/2006/table">
            <a:tbl>
              <a:tblPr/>
              <a:tblGrid>
                <a:gridCol w="2186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نمونهٔ مشابه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نتیجهٔ طرح ما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روش اندازه‌گیری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fa-IR" altLang="en-US" sz="1100" b="1" dirty="0">
                          <a:solidFill>
                            <a:srgbClr val="FFFFFF"/>
                          </a:solidFill>
                          <a:cs typeface="+mj-cs"/>
                        </a:rPr>
                        <a:t>معیار (سرعت، دقت، مصرف منابع)</a:t>
                      </a:r>
                      <a:endParaRPr lang="fa-IR" sz="1100" dirty="0">
                        <a:cs typeface="+mj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وابستگی به اقلیم‌های غیربومی و خطای بالاتر در شبکه ایران و عدم پیش بینی کوتاه مدت با داده های هواشناسی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(Open-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Meteo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)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درصد خطای کمتر در تخمین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ماهانه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Vazirmatn" pitchFamily="2" charset="-78"/>
                        <a:ea typeface="+mn-ea"/>
                        <a:cs typeface="+mj-cs"/>
                      </a:endParaRPr>
                    </a:p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خطای کمتر از 8٪ با کالیبرسیون اقلیمی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NASA &amp; Open-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Meteo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مقایسه خروجی موتور پیش‌بینی هیبریدی با داده‌های واقعی ۳ نیروگاه پایلوت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دقت پیش‌بینی تولید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پایش‌های دستی: زمان‌بر، مستعد خطای انسانی و بدون اتوماسیون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پردازش آنی بدون معطلی کمتر از ۱ ثانیه برای پالایش و حذف رکورد تکراری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زمان آپلود و پردازش فایل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CSV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اینورتر 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سرعت پردازش و پالایش داده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عدم پشتیبانی از ضرایب بومی شبکه ایران و نرم افزار تأیید نشده توسط سازمان های ذی ربط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محاسبه دقیق گواهی کربن با استفاده از ضریب بومی شبکه 0.66 کیلوگرم دی اکسید کربن به ازای هر کیلو وات ساعت انرژی تولیدی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تطبیق ضریب انتشار با استانداردهای داخلی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سازگاری با بورس و شبکه ایران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سامانه‌های فاقد لایه امنیتی استاندارد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امنیت کامل اطلاعات و تراکنش‌ها و احراز هویت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OTP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و هش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SHA-256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 </a:t>
                      </a: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پایگاه داده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تست پایداری ورود و هشینگ گواهی کربن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kern="1200" dirty="0">
                          <a:solidFill>
                            <a:schemeClr val="tx1"/>
                          </a:solidFill>
                          <a:effectLst/>
                          <a:latin typeface="Vazirmatn" pitchFamily="2" charset="-78"/>
                          <a:ea typeface="+mn-ea"/>
                          <a:cs typeface="+mj-cs"/>
                        </a:rPr>
                        <a:t>امنیت و احراز هویت</a:t>
                      </a:r>
                      <a:endParaRPr lang="fa-IR" sz="1200" dirty="0">
                        <a:latin typeface="Vazirmatn" pitchFamily="2" charset="-78"/>
                        <a:cs typeface="+mj-cs"/>
                      </a:endParaRPr>
                    </a:p>
                  </a:txBody>
                  <a:tcPr>
                    <a:lnL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نتایج به‌دست‌آمده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نتایج علمی ارزیابی‌ها و آزمایش‌ها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/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/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/>
          <p:cNvSpPr txBox="1"/>
          <p:nvPr/>
        </p:nvSpPr>
        <p:spPr>
          <a:xfrm>
            <a:off x="480060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1- مهم‌ترین دستاوردها و نتایج آماری </a:t>
            </a:r>
            <a:r>
              <a:rPr lang="fa-IR" sz="1200" dirty="0">
                <a:latin typeface="Vazirmatn" pitchFamily="2" charset="-78"/>
                <a:cs typeface="+mj-cs"/>
              </a:rPr>
              <a:t>(بر اساس پایلوت نیروگاه ۱4 کیلوواتی تهران) در تیر و مرداد 1405: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dirty="0">
                <a:latin typeface="Vazirmatn" pitchFamily="2" charset="-78"/>
                <a:cs typeface="+mj-cs"/>
              </a:rPr>
              <a:t>تولید انرژی: 4366 کیلووات‌ساعت.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dirty="0">
                <a:latin typeface="Vazirmatn" pitchFamily="2" charset="-78"/>
                <a:cs typeface="+mj-cs"/>
              </a:rPr>
              <a:t>کاهش انتشار کربن: جلوگیری از انتشار حدود 2880 کیلوگرم دی‌اکسید کربن (محاسبه‌شده با ضریب شبکه ایران).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2- معادل‌سازی زیست‌محیطی ملموس: </a:t>
            </a:r>
            <a:endParaRPr lang="en-US" sz="1200" b="1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dirty="0">
                <a:latin typeface="Vazirmatn" pitchFamily="2" charset="-78"/>
                <a:cs typeface="+mj-cs"/>
              </a:rPr>
              <a:t>معادل جذب کربن توسط حدود ۱3۰ اصله درخت بالغ (سرانه جذب هر درخت: ۲۲ کیلوگرم کربن در سال)</a:t>
            </a:r>
          </a:p>
          <a:p>
            <a:pPr algn="r" rtl="1"/>
            <a:r>
              <a:rPr lang="fa-IR" sz="1200" dirty="0">
                <a:latin typeface="Vazirmatn" pitchFamily="2" charset="-78"/>
                <a:cs typeface="+mj-cs"/>
              </a:rPr>
              <a:t>معادل 21830 کیلومتر پیمایش با خودرو برقی (۵ کیلومتر به ازای هر کیلووات‌ساعت)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dirty="0">
                <a:latin typeface="Vazirmatn" pitchFamily="2" charset="-78"/>
                <a:cs typeface="+mj-cs"/>
              </a:rPr>
              <a:t>معادل کاهش آلایندگی 19470 کیلومتر پیمایش خودروی بنزینی (نرخ انتشار ۱۴۸ گرم کربن بر کیلومتر)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dirty="0">
                <a:latin typeface="Vazirmatn" pitchFamily="2" charset="-78"/>
                <a:cs typeface="+mj-cs"/>
              </a:rPr>
              <a:t>معادل 436 روز برق مصرفی منزل مسکونی (۱۰ کیلووات‌ساعت در روز بر اساس الگوی مصرف شبکه)</a:t>
            </a:r>
            <a:endParaRPr lang="en-US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EC4942-79DA-6786-ACF0-3D675FDC1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93392"/>
            <a:ext cx="3931920" cy="26901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7D3C5-EDC0-DCC2-E7AD-BEF0C1C78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FA9FD2F5-4AC4-E1F9-6506-F47C97F7C0D3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نتایج به‌دست‌آمده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827B440E-131F-167D-940D-E97EAA605AE9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26D52E9A-5722-6042-FCD5-DC75D84948D7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430E55A0-0CEC-CF52-A5F7-6A9FF6E0E332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نتایج علمی ارزیابی‌ها و آزمایش‌ها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3AE44DB2-A474-B7B2-8AF8-53DEDA00550B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716241EE-699E-9DEF-2672-9267622E6764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10" name="Prompts">
            <a:extLst>
              <a:ext uri="{FF2B5EF4-FFF2-40B4-BE49-F238E27FC236}">
                <a16:creationId xmlns:a16="http://schemas.microsoft.com/office/drawing/2014/main" id="{797A4CC5-BF25-DDBF-1716-D21E21204B6C}"/>
              </a:ext>
            </a:extLst>
          </p:cNvPr>
          <p:cNvSpPr txBox="1"/>
          <p:nvPr/>
        </p:nvSpPr>
        <p:spPr>
          <a:xfrm>
            <a:off x="4800600" y="201168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موفقیت در پایلوت‌ها:</a:t>
            </a:r>
            <a:r>
              <a:rPr lang="fa-IR" sz="1200" dirty="0">
                <a:latin typeface="Vazirmatn" pitchFamily="2" charset="-78"/>
                <a:cs typeface="+mj-cs"/>
              </a:rPr>
              <a:t> پیاده‌سازی و تست موفق روی سه مقیاس مختلف (خانگی </a:t>
            </a:r>
            <a:r>
              <a:rPr lang="en-US" sz="1200" dirty="0">
                <a:latin typeface="Vazirmatn" pitchFamily="2" charset="-78"/>
                <a:cs typeface="+mj-cs"/>
              </a:rPr>
              <a:t>14 KW</a:t>
            </a:r>
            <a:r>
              <a:rPr lang="fa-IR" sz="1200" dirty="0">
                <a:latin typeface="Vazirmatn" pitchFamily="2" charset="-78"/>
                <a:cs typeface="+mj-cs"/>
              </a:rPr>
              <a:t>، صنعتی </a:t>
            </a:r>
            <a:r>
              <a:rPr lang="en-US" sz="1200" dirty="0">
                <a:latin typeface="Vazirmatn" pitchFamily="2" charset="-78"/>
                <a:cs typeface="+mj-cs"/>
              </a:rPr>
              <a:t>230 KW</a:t>
            </a:r>
            <a:r>
              <a:rPr lang="fa-IR" sz="1200" dirty="0">
                <a:latin typeface="Vazirmatn" pitchFamily="2" charset="-78"/>
                <a:cs typeface="+mj-cs"/>
              </a:rPr>
              <a:t> شهرک صنعتی شمس‌آباد و </a:t>
            </a:r>
            <a:r>
              <a:rPr lang="en-US" sz="1200" dirty="0">
                <a:latin typeface="Vazirmatn" pitchFamily="2" charset="-78"/>
                <a:cs typeface="+mj-cs"/>
              </a:rPr>
              <a:t>100 KW</a:t>
            </a:r>
            <a:r>
              <a:rPr lang="fa-IR" sz="1200" dirty="0">
                <a:latin typeface="Vazirmatn" pitchFamily="2" charset="-78"/>
                <a:cs typeface="+mj-cs"/>
              </a:rPr>
              <a:t> شهرک سوادکوه).</a:t>
            </a:r>
          </a:p>
          <a:p>
            <a:pPr algn="r" rtl="1">
              <a:lnSpc>
                <a:spcPct val="150000"/>
              </a:lnSpc>
            </a:pP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پوشش ریسک بورس:</a:t>
            </a:r>
            <a:r>
              <a:rPr lang="fa-IR" sz="1200" dirty="0">
                <a:latin typeface="Vazirmatn" pitchFamily="2" charset="-78"/>
                <a:cs typeface="+mj-cs"/>
              </a:rPr>
              <a:t> موفقیت الگوریتم در پیش‌بینی دقیق تولید ماهانه و همگام‌سازی با تقویم معاملاتی. پیش بینی تولید شهریور ماه 1405 برابر با 1774 کیلو وات ساعت و تولید واقعی 1968 کیلو وات ساعت (انحراف حدود 10 درصد)</a:t>
            </a:r>
            <a:endParaRPr lang="en-US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FC2C31F-0BED-3E04-2722-8ED061359B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DF62D9-9D51-923B-3B7B-8E82ED506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84" y="1889760"/>
            <a:ext cx="3914636" cy="274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4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مزایای محصول/دستگاه طراحی‌شده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مزایای فنی</a:t>
            </a:r>
            <a:endParaRPr lang="fa-IR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Bullets card"/>
          <p:cNvSpPr/>
          <p:nvPr/>
        </p:nvSpPr>
        <p:spPr>
          <a:xfrm>
            <a:off x="457200" y="1874520"/>
            <a:ext cx="82296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/>
          <p:cNvSpPr txBox="1"/>
          <p:nvPr/>
        </p:nvSpPr>
        <p:spPr>
          <a:xfrm>
            <a:off x="68580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استفاده از ضریب بومی ایران:</a:t>
            </a:r>
            <a:r>
              <a:rPr lang="fa-IR" sz="1200" dirty="0">
                <a:latin typeface="Vazirmatn" pitchFamily="2" charset="-78"/>
                <a:cs typeface="+mj-cs"/>
              </a:rPr>
              <a:t> برخلاف نرم‌افزارهای خارجی (مثل </a:t>
            </a:r>
            <a:r>
              <a:rPr lang="en-US" sz="1200" dirty="0">
                <a:latin typeface="Vazirmatn" pitchFamily="2" charset="-78"/>
                <a:cs typeface="+mj-cs"/>
              </a:rPr>
              <a:t>PVsyst</a:t>
            </a:r>
            <a:r>
              <a:rPr lang="fa-IR" sz="1200" dirty="0">
                <a:latin typeface="Vazirmatn" pitchFamily="2" charset="-78"/>
                <a:cs typeface="+mj-cs"/>
              </a:rPr>
              <a:t>) که از ضرایب عمومی و غیرکالیبره استفاده می‌کنند، گرین‌ ماین بر اساس </a:t>
            </a:r>
            <a:r>
              <a:rPr lang="fa-IR" sz="1200" b="1" dirty="0">
                <a:latin typeface="Vazirmatn" pitchFamily="2" charset="-78"/>
                <a:cs typeface="+mj-cs"/>
              </a:rPr>
              <a:t>ضریب بومی شبکه </a:t>
            </a:r>
            <a:r>
              <a:rPr lang="fa-IR" sz="1200" dirty="0">
                <a:latin typeface="Vazirmatn" pitchFamily="2" charset="-78"/>
                <a:cs typeface="+mj-cs"/>
              </a:rPr>
              <a:t>کالیبره شده است.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پیش‌بینی هوشمند مبتنی بر داده‌های اقلیمی:</a:t>
            </a:r>
            <a:r>
              <a:rPr lang="fa-IR" sz="1200" dirty="0">
                <a:latin typeface="Vazirmatn" pitchFamily="2" charset="-78"/>
                <a:cs typeface="+mj-cs"/>
              </a:rPr>
              <a:t> تلفیق داده‌های نیروگاه (ظرفیت، موقعیت جغرافیایی، زاویه و جهت پنل، ضریب راندمان) با مدل‌های پیش‌بینی خورشیدی برای تخمین دقیق تولید.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معماری امن و استاندارد:</a:t>
            </a:r>
            <a:r>
              <a:rPr lang="fa-IR" sz="1200" dirty="0">
                <a:latin typeface="Vazirmatn" pitchFamily="2" charset="-78"/>
                <a:cs typeface="+mj-cs"/>
              </a:rPr>
              <a:t> پیاده‌سازی لایه‌های امنیتی از جمله هشینگ رمز عبور (</a:t>
            </a:r>
            <a:r>
              <a:rPr lang="en-US" sz="1200" dirty="0">
                <a:latin typeface="Vazirmatn" pitchFamily="2" charset="-78"/>
                <a:cs typeface="+mj-cs"/>
              </a:rPr>
              <a:t>SHA-256</a:t>
            </a:r>
            <a:r>
              <a:rPr lang="fa-IR" sz="1200" dirty="0">
                <a:latin typeface="Vazirmatn" pitchFamily="2" charset="-78"/>
                <a:cs typeface="+mj-cs"/>
              </a:rPr>
              <a:t>) و تأیید هویت دو مرحله‌ای (</a:t>
            </a:r>
            <a:r>
              <a:rPr lang="en-US" sz="1200" dirty="0">
                <a:latin typeface="Vazirmatn" pitchFamily="2" charset="-78"/>
                <a:cs typeface="+mj-cs"/>
              </a:rPr>
              <a:t>OTP</a:t>
            </a:r>
            <a:r>
              <a:rPr lang="fa-IR" sz="1200" dirty="0">
                <a:latin typeface="Vazirmatn" pitchFamily="2" charset="-78"/>
                <a:cs typeface="+mj-cs"/>
              </a:rPr>
              <a:t>).</a:t>
            </a:r>
            <a:endParaRPr lang="en-US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8CFDF-4B10-7973-E602-3D849330E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4FA4F411-941A-5B94-4DA0-F1DB7A0AAEB1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مزایای محصول/دستگاه طراحی‌شده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9D8BB3F8-3890-D72C-91D6-F650AFE68CD1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8440B7BA-6F86-B884-1D31-806F32BB2470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9A2213F9-3CF6-6340-9C9E-1EAB4676F743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مزایای اقتصادی</a:t>
            </a:r>
            <a:endParaRPr lang="fa-IR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Bullets card">
            <a:extLst>
              <a:ext uri="{FF2B5EF4-FFF2-40B4-BE49-F238E27FC236}">
                <a16:creationId xmlns:a16="http://schemas.microsoft.com/office/drawing/2014/main" id="{9935F6C6-2BDF-F103-9286-6A15EE12C018}"/>
              </a:ext>
            </a:extLst>
          </p:cNvPr>
          <p:cNvSpPr/>
          <p:nvPr/>
        </p:nvSpPr>
        <p:spPr>
          <a:xfrm>
            <a:off x="457200" y="1874520"/>
            <a:ext cx="82296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>
            <a:extLst>
              <a:ext uri="{FF2B5EF4-FFF2-40B4-BE49-F238E27FC236}">
                <a16:creationId xmlns:a16="http://schemas.microsoft.com/office/drawing/2014/main" id="{189D21DD-8792-FC7E-7202-BEF36C560E27}"/>
              </a:ext>
            </a:extLst>
          </p:cNvPr>
          <p:cNvSpPr txBox="1"/>
          <p:nvPr/>
        </p:nvSpPr>
        <p:spPr>
          <a:xfrm>
            <a:off x="68580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جلوگیری از ریسک نکول در بورس انرژی:</a:t>
            </a:r>
            <a:r>
              <a:rPr lang="fa-IR" sz="1200" dirty="0">
                <a:latin typeface="Vazirmatn" pitchFamily="2" charset="-78"/>
                <a:cs typeface="+mj-cs"/>
              </a:rPr>
              <a:t> رفع چالش بزرگ نیروگاه‌های تجدیدپذیر در تعهدات تحویل برق پیش ‌فروش ‌شده از طریق پیش ‌بینی دقیق خطا و جلوگیری از جریمه های سنگین طبق دستور العمل نحوه اعمال محدودیت و جبران خسارت</a:t>
            </a:r>
          </a:p>
          <a:p>
            <a:pPr lvl="0" algn="r" rtl="1">
              <a:lnSpc>
                <a:spcPct val="150000"/>
              </a:lnSpc>
            </a:pP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SA" sz="1200" b="1" dirty="0">
                <a:latin typeface="Vazirmatn" pitchFamily="2" charset="-78"/>
                <a:cs typeface="+mj-cs"/>
              </a:rPr>
              <a:t>امکان تهاتر و فروش گواهی‌های صرفه‌جویی کربن</a:t>
            </a:r>
            <a:r>
              <a:rPr lang="fa-IR" sz="1200" b="1" dirty="0">
                <a:latin typeface="Vazirmatn" pitchFamily="2" charset="-78"/>
                <a:cs typeface="+mj-cs"/>
              </a:rPr>
              <a:t>: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ایجاد بستر مستند و استاندارد برای تبدیل حجم کربن اجتناب‌شده به «گواهی‌های کاهش انتشار آلاینده» جهت تهاتر با صنایع آلاینده</a:t>
            </a:r>
            <a:r>
              <a:rPr lang="fa-IR" sz="1200" dirty="0">
                <a:latin typeface="Vazirmatn" pitchFamily="2" charset="-78"/>
                <a:cs typeface="+mj-cs"/>
              </a:rPr>
              <a:t> یا فروش در بورس در راستای سیاست های کلان اوراق گواهی کاهش انتشار آلاینده</a:t>
            </a:r>
          </a:p>
          <a:p>
            <a:pPr lvl="0" algn="r" rtl="1">
              <a:lnSpc>
                <a:spcPct val="150000"/>
              </a:lnSpc>
            </a:pP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ar-SA" sz="1200" b="1" dirty="0">
                <a:latin typeface="Vazirmatn" pitchFamily="2" charset="-78"/>
                <a:cs typeface="+mj-cs"/>
              </a:rPr>
              <a:t>ارزش‌آفرینی از توکن‌سازی سبز</a:t>
            </a:r>
            <a:r>
              <a:rPr lang="en-US" sz="1200" b="1" dirty="0">
                <a:latin typeface="Vazirmatn" pitchFamily="2" charset="-78"/>
                <a:cs typeface="+mj-cs"/>
              </a:rPr>
              <a:t>:</a:t>
            </a:r>
            <a:r>
              <a:rPr lang="en-US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ایجاد یک ساختار شفاف و رهگیری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‌پذیر (مبتنی بر مدل‌های توکن و اعتبار کربن) برای ارزش‌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گذاری و ایجاد انگیزه اقتصادی در سرمایه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‌گذاری انرژی</a:t>
            </a:r>
            <a:r>
              <a:rPr lang="fa-IR" sz="1200" dirty="0">
                <a:latin typeface="Vazirmatn" pitchFamily="2" charset="-78"/>
                <a:cs typeface="+mj-cs"/>
              </a:rPr>
              <a:t> </a:t>
            </a:r>
            <a:r>
              <a:rPr lang="ar-SA" sz="1200" dirty="0">
                <a:latin typeface="Vazirmatn" pitchFamily="2" charset="-78"/>
                <a:cs typeface="+mj-cs"/>
              </a:rPr>
              <a:t>‌های تجدیدپذیر</a:t>
            </a:r>
            <a:r>
              <a:rPr lang="en-US" sz="1200" dirty="0">
                <a:latin typeface="Vazirmatn" pitchFamily="2" charset="-78"/>
                <a:cs typeface="+mj-cs"/>
              </a:rPr>
              <a:t>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19585BC-631D-9794-576D-9E032C0836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8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16F2E-7D23-3EB8-FA09-8D4580CB3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E32AA734-61B3-2685-116C-67BF286AF5DA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مزایای محصول/دستگاه طراحی‌شده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546228F8-B0B5-B648-B5D1-2FE39370FBEC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0A12E196-213F-CC1E-A9F9-D53D7C99BAB1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77C04A21-51BE-BFE9-E210-B232D83B39FA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مزایای کاربردی و بومی‌بودن</a:t>
            </a:r>
            <a:endParaRPr lang="fa-IR" sz="1400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Bullets card">
            <a:extLst>
              <a:ext uri="{FF2B5EF4-FFF2-40B4-BE49-F238E27FC236}">
                <a16:creationId xmlns:a16="http://schemas.microsoft.com/office/drawing/2014/main" id="{6E0B5E16-9F9D-270D-9694-F5C3DA78BDE6}"/>
              </a:ext>
            </a:extLst>
          </p:cNvPr>
          <p:cNvSpPr/>
          <p:nvPr/>
        </p:nvSpPr>
        <p:spPr>
          <a:xfrm>
            <a:off x="457200" y="1874520"/>
            <a:ext cx="82296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>
            <a:extLst>
              <a:ext uri="{FF2B5EF4-FFF2-40B4-BE49-F238E27FC236}">
                <a16:creationId xmlns:a16="http://schemas.microsoft.com/office/drawing/2014/main" id="{CB502EAD-5BBB-D98B-6470-A885039AB14D}"/>
              </a:ext>
            </a:extLst>
          </p:cNvPr>
          <p:cNvSpPr txBox="1"/>
          <p:nvPr/>
        </p:nvSpPr>
        <p:spPr>
          <a:xfrm>
            <a:off x="685800" y="20116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r" rtl="1">
              <a:lnSpc>
                <a:spcPct val="150000"/>
              </a:lnSpc>
            </a:pPr>
            <a:r>
              <a:rPr lang="fa-IR" sz="1400" b="1" dirty="0">
                <a:latin typeface="Vazirmatn" pitchFamily="2" charset="-78"/>
                <a:cs typeface="+mj-cs"/>
              </a:rPr>
              <a:t>سازگاری کامل با قوانین ایران:</a:t>
            </a:r>
            <a:r>
              <a:rPr lang="fa-IR" sz="1400" dirty="0">
                <a:latin typeface="Vazirmatn" pitchFamily="2" charset="-78"/>
                <a:cs typeface="+mj-cs"/>
              </a:rPr>
              <a:t> هم‌راستا بودن با دستورالعمل‌های بورس انرژی ایران و مکاتبات انجام‌شده با سازمان انرژی های تجدید پذیر و بهره وری انرژی برق (ساتبا).</a:t>
            </a:r>
          </a:p>
          <a:p>
            <a:pPr lvl="0" algn="r" rtl="1">
              <a:lnSpc>
                <a:spcPct val="150000"/>
              </a:lnSpc>
            </a:pPr>
            <a:endParaRPr lang="en-US" sz="14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400" b="1" dirty="0">
                <a:latin typeface="Vazirmatn" pitchFamily="2" charset="-78"/>
                <a:cs typeface="+mj-cs"/>
              </a:rPr>
              <a:t>رابط کاربری ساده و یکپارچه:</a:t>
            </a:r>
            <a:r>
              <a:rPr lang="fa-IR" sz="1400" dirty="0">
                <a:latin typeface="Vazirmatn" pitchFamily="2" charset="-78"/>
                <a:cs typeface="+mj-cs"/>
              </a:rPr>
              <a:t> داشبورد مدیریتی بسیار روان جهت استفاده آسان مالکان نیروگاه‌های خانگی و صنعتی بدون نیاز به دانش تخصصی </a:t>
            </a:r>
            <a:r>
              <a:rPr lang="en-US" sz="1400" dirty="0">
                <a:latin typeface="Vazirmatn" pitchFamily="2" charset="-78"/>
                <a:cs typeface="+mj-cs"/>
              </a:rPr>
              <a:t>IT</a:t>
            </a:r>
            <a:r>
              <a:rPr lang="fa-IR" sz="1400" dirty="0">
                <a:latin typeface="Vazirmatn" pitchFamily="2" charset="-78"/>
                <a:cs typeface="+mj-cs"/>
              </a:rPr>
              <a:t>.</a:t>
            </a:r>
            <a:endParaRPr lang="en-US" sz="14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06DC68A-1F85-8D0A-BA72-9C875C9490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44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توجیه اقتصادی و اثربخشی محصول/دستگاه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97840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97840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97840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اثربخشی و مزایای اقتصادی‏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Bullets card"/>
          <p:cNvSpPr/>
          <p:nvPr/>
        </p:nvSpPr>
        <p:spPr>
          <a:xfrm>
            <a:off x="457200" y="1706880"/>
            <a:ext cx="8229600" cy="303276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/>
          <p:cNvSpPr txBox="1"/>
          <p:nvPr/>
        </p:nvSpPr>
        <p:spPr>
          <a:xfrm>
            <a:off x="640080" y="1766316"/>
            <a:ext cx="7909560" cy="2973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1- هزینه تمام‌شده و مزیت رقابتی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/>
            <a:r>
              <a:rPr lang="fa-IR" sz="1200" b="1" dirty="0">
                <a:latin typeface="Vazirmatn" pitchFamily="2" charset="-78"/>
                <a:cs typeface="+mj-cs"/>
              </a:rPr>
              <a:t>بهینه‌بودن هزینه‌های توسعه:</a:t>
            </a:r>
            <a:r>
              <a:rPr lang="fa-IR" sz="1200" dirty="0">
                <a:latin typeface="Vazirmatn" pitchFamily="2" charset="-78"/>
                <a:cs typeface="+mj-cs"/>
              </a:rPr>
              <a:t> هزینه اولیه زیر ساخت ابری (تقریباً ۱۰۰ میلیون تومان) و توسعه نسخه تجاری امن (تقریباً ۳۰۰ میلیون تومان) در مقایسه با نرم‌افزارهای سازمانی سنگین خارجی، بسیار مقرون‌ به ‌صرفه و اقتصادی است.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/>
            <a:r>
              <a:rPr lang="fa-IR" sz="1200" b="1" dirty="0">
                <a:latin typeface="Vazirmatn" pitchFamily="2" charset="-78"/>
                <a:cs typeface="+mj-cs"/>
              </a:rPr>
              <a:t>جلوگیری از هزینه‌های جانبی:</a:t>
            </a:r>
            <a:r>
              <a:rPr lang="fa-IR" sz="1200" dirty="0">
                <a:latin typeface="Vazirmatn" pitchFamily="2" charset="-78"/>
                <a:cs typeface="+mj-cs"/>
              </a:rPr>
              <a:t> کاهش چشمگیر هزینه‌ها و جریمه‌های ناشی از عدم ایفای تعهدات نیروگاه‌ها در بورس انرژی.</a:t>
            </a:r>
          </a:p>
          <a:p>
            <a:pPr lvl="0" algn="r" rtl="1"/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2- بازار هدف و میزان تقاضا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/>
            <a:r>
              <a:rPr lang="fa-IR" sz="1200" b="1" dirty="0">
                <a:latin typeface="Vazirmatn" pitchFamily="2" charset="-78"/>
                <a:cs typeface="+mj-cs"/>
              </a:rPr>
              <a:t>بازار رو به رشد انرژی‌های تجدیدپذیر:</a:t>
            </a:r>
            <a:r>
              <a:rPr lang="fa-IR" sz="1200" dirty="0">
                <a:latin typeface="Vazirmatn" pitchFamily="2" charset="-78"/>
                <a:cs typeface="+mj-cs"/>
              </a:rPr>
              <a:t> پوشش مالکان نیروگاه‌های خانگی، مدارس، تجاری و صنعتی </a:t>
            </a:r>
          </a:p>
          <a:p>
            <a:pPr lvl="0" algn="r" rtl="1"/>
            <a:r>
              <a:rPr lang="fa-IR" sz="1200" b="1" dirty="0">
                <a:latin typeface="Vazirmatn" pitchFamily="2" charset="-78"/>
                <a:cs typeface="+mj-cs"/>
              </a:rPr>
              <a:t>هم‌راستایی با نیاز بورس انرژی:</a:t>
            </a:r>
            <a:r>
              <a:rPr lang="fa-IR" sz="1200" dirty="0">
                <a:latin typeface="Vazirmatn" pitchFamily="2" charset="-78"/>
                <a:cs typeface="+mj-cs"/>
              </a:rPr>
              <a:t> پاسخ به نیاز مبرم بازار بهینه‌سازی انرژی و تابلوی سبز بورس برای سامانه‌های پیش‌بینی و گواهی کربن.</a:t>
            </a:r>
          </a:p>
          <a:p>
            <a:pPr lvl="0" algn="r" rtl="1"/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3- درآمدزایی، صرفه‌جویی و بهره‌وری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/>
            <a:r>
              <a:rPr lang="fa-IR" sz="1200" b="1" dirty="0">
                <a:latin typeface="Vazirmatn" pitchFamily="2" charset="-78"/>
                <a:cs typeface="+mj-cs"/>
              </a:rPr>
              <a:t>درآمدزایی از طریق گواهی‌های کربن:</a:t>
            </a:r>
            <a:r>
              <a:rPr lang="fa-IR" sz="1200" dirty="0">
                <a:latin typeface="Vazirmatn" pitchFamily="2" charset="-78"/>
                <a:cs typeface="+mj-cs"/>
              </a:rPr>
              <a:t> ایجاد بستر برای تهاتر و فروش گواهی‌های صرفه‌جویی کربن میان نیروگاه‌ها و صنایع آلاینده.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/>
            <a:r>
              <a:rPr lang="fa-IR" sz="1200" b="1" dirty="0">
                <a:latin typeface="Vazirmatn" pitchFamily="2" charset="-78"/>
                <a:cs typeface="+mj-cs"/>
              </a:rPr>
              <a:t>بهره‌وری عملیاتی:</a:t>
            </a:r>
            <a:r>
              <a:rPr lang="fa-IR" sz="1200" dirty="0">
                <a:latin typeface="Vazirmatn" pitchFamily="2" charset="-78"/>
                <a:cs typeface="+mj-cs"/>
              </a:rPr>
              <a:t> اتوماسیون کامل فرایند پایش، پیش ‌بینی تولید و کاهش خطاهای انسانی در مدیریت نیروگاه.</a:t>
            </a:r>
          </a:p>
          <a:p>
            <a:pPr lvl="0" algn="r" rtl="1"/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4- اثر اجتماعی و اشتغال‌زایی </a:t>
            </a:r>
          </a:p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توسعه اشتغال دانش‌بنیان:</a:t>
            </a:r>
            <a:r>
              <a:rPr lang="fa-IR" sz="1200" dirty="0">
                <a:latin typeface="Vazirmatn" pitchFamily="2" charset="-78"/>
                <a:cs typeface="+mj-cs"/>
              </a:rPr>
              <a:t> ایجاد فرصت‌های شغلی تخصصی در حوزه‌های مهندسی نرم‌افزار، انرژی‌های تجدیدپذیر و اقتصاد کربن.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/>
            <a:r>
              <a:rPr lang="fa-IR" sz="1200" b="1" dirty="0">
                <a:latin typeface="Vazirmatn" pitchFamily="2" charset="-78"/>
                <a:cs typeface="+mj-cs"/>
              </a:rPr>
              <a:t>کمک به اهداف کلان زیست‌محیطی کشور:</a:t>
            </a:r>
            <a:r>
              <a:rPr lang="fa-IR" sz="1200" dirty="0">
                <a:latin typeface="Vazirmatn" pitchFamily="2" charset="-78"/>
                <a:cs typeface="+mj-cs"/>
              </a:rPr>
              <a:t> کمک به کاهش انتشار گازهای گلخانه‌ای و توسعه اقتصاد سبز در راستای تعهدات ملی.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گواهی‌ها و تأییدیه‌های اخذ‌شده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تاییدیه ها</a:t>
            </a:r>
            <a:endParaRPr lang="fa-IR" sz="1400" dirty="0">
              <a:latin typeface="Vazirmatn" pitchFamily="2" charset="-78"/>
              <a:cs typeface="+mj-cs"/>
            </a:endParaRPr>
          </a:p>
        </p:txBody>
      </p:sp>
      <p:sp>
        <p:nvSpPr>
          <p:cNvPr id="7" name="Image drop area"/>
          <p:cNvSpPr/>
          <p:nvPr/>
        </p:nvSpPr>
        <p:spPr>
          <a:xfrm>
            <a:off x="60960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Caption"/>
          <p:cNvSpPr txBox="1"/>
          <p:nvPr/>
        </p:nvSpPr>
        <p:spPr>
          <a:xfrm>
            <a:off x="6096000" y="4370832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200" b="1" dirty="0">
                <a:solidFill>
                  <a:schemeClr val="tx2"/>
                </a:solidFill>
              </a:rPr>
              <a:t>گواهی / تأییدیه ۱</a:t>
            </a:r>
            <a:endParaRPr lang="fa-IR" sz="1200" dirty="0"/>
          </a:p>
        </p:txBody>
      </p:sp>
      <p:sp>
        <p:nvSpPr>
          <p:cNvPr id="10" name="Image drop area"/>
          <p:cNvSpPr/>
          <p:nvPr/>
        </p:nvSpPr>
        <p:spPr>
          <a:xfrm>
            <a:off x="32766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2" name="Caption"/>
          <p:cNvSpPr txBox="1"/>
          <p:nvPr/>
        </p:nvSpPr>
        <p:spPr>
          <a:xfrm>
            <a:off x="3276600" y="4370832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200" b="1" dirty="0">
                <a:solidFill>
                  <a:schemeClr val="tx2"/>
                </a:solidFill>
              </a:rPr>
              <a:t>گواهی / تأییدیه ۲</a:t>
            </a:r>
            <a:endParaRPr lang="fa-IR" sz="1200" dirty="0"/>
          </a:p>
        </p:txBody>
      </p:sp>
      <p:sp>
        <p:nvSpPr>
          <p:cNvPr id="13" name="Image drop area"/>
          <p:cNvSpPr/>
          <p:nvPr/>
        </p:nvSpPr>
        <p:spPr>
          <a:xfrm>
            <a:off x="4572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5" name="Caption"/>
          <p:cNvSpPr txBox="1"/>
          <p:nvPr/>
        </p:nvSpPr>
        <p:spPr>
          <a:xfrm>
            <a:off x="457200" y="4370832"/>
            <a:ext cx="259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200" b="1" dirty="0">
                <a:solidFill>
                  <a:schemeClr val="tx2"/>
                </a:solidFill>
              </a:rPr>
              <a:t>گواهی / تأییدیه ۳</a:t>
            </a:r>
            <a:endParaRPr lang="fa-I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CAA561-62F6-7C69-51C6-9C5191308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1877082"/>
            <a:ext cx="1711499" cy="24205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93427C-6AD6-C8FB-E589-AF0A64EA9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035" y="1874520"/>
            <a:ext cx="1709929" cy="241837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846781-DC2D-0A32-4F4D-EC58CC69AE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717" r="19477"/>
          <a:stretch>
            <a:fillRect/>
          </a:stretch>
        </p:blipFill>
        <p:spPr>
          <a:xfrm>
            <a:off x="457200" y="1892597"/>
            <a:ext cx="2590800" cy="238971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جمع‌بندی نهایی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دستاوردها، محدودیت ها و چشم انداز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Bullets card"/>
          <p:cNvSpPr/>
          <p:nvPr/>
        </p:nvSpPr>
        <p:spPr>
          <a:xfrm>
            <a:off x="457200" y="1874520"/>
            <a:ext cx="82296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/>
          <p:cNvSpPr txBox="1"/>
          <p:nvPr/>
        </p:nvSpPr>
        <p:spPr>
          <a:xfrm>
            <a:off x="528320" y="2011680"/>
            <a:ext cx="8021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1- دستاورد اصلی طرح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پیاده‌سازی موفق سامانه:</a:t>
            </a:r>
            <a:r>
              <a:rPr lang="fa-IR" sz="1200" dirty="0">
                <a:latin typeface="Vazirmatn" pitchFamily="2" charset="-78"/>
                <a:cs typeface="+mj-cs"/>
              </a:rPr>
              <a:t> توسعه و تست موفقیت ‌آمیز سامانه «گرین‌ ماین» در ۳ نیروگاه پایلوت (خانگی، صنعتی سوادکوه و شمس‌آباد).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نوآوری بومی:</a:t>
            </a:r>
            <a:r>
              <a:rPr lang="fa-IR" sz="1200" dirty="0">
                <a:latin typeface="Vazirmatn" pitchFamily="2" charset="-78"/>
                <a:cs typeface="+mj-cs"/>
              </a:rPr>
              <a:t> تلفیق داده‌های لحظه‌ای اینورتر، پیش‌بینی اقلیمی (</a:t>
            </a:r>
            <a:r>
              <a:rPr lang="en-US" sz="1200" dirty="0">
                <a:latin typeface="Vazirmatn" pitchFamily="2" charset="-78"/>
                <a:cs typeface="+mj-cs"/>
              </a:rPr>
              <a:t>NASA/Open-</a:t>
            </a:r>
            <a:r>
              <a:rPr lang="en-US" sz="1200" dirty="0" err="1">
                <a:latin typeface="Vazirmatn" pitchFamily="2" charset="-78"/>
                <a:cs typeface="+mj-cs"/>
              </a:rPr>
              <a:t>Meteo</a:t>
            </a:r>
            <a:r>
              <a:rPr lang="fa-IR" sz="1200" dirty="0">
                <a:latin typeface="Vazirmatn" pitchFamily="2" charset="-78"/>
                <a:cs typeface="+mj-cs"/>
              </a:rPr>
              <a:t>) و ضریب انتشار شبکه ایران برای نخستین بار در بستر یکپارچه.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ارزش‌ آفرینی زیست ‌محیطی:</a:t>
            </a:r>
            <a:r>
              <a:rPr lang="fa-IR" sz="1200" dirty="0">
                <a:latin typeface="Vazirmatn" pitchFamily="2" charset="-78"/>
                <a:cs typeface="+mj-cs"/>
              </a:rPr>
              <a:t> ثبت و معادل‌ سازی شفاف کاهش کربن و گام برداشتن در مسیر بازار گواهی‌ های صرفه‌جویی.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۲- چالش‌ها و محدودیت‌ها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نوپا بودن بازار کربن:</a:t>
            </a:r>
            <a:r>
              <a:rPr lang="fa-IR" sz="1200" dirty="0">
                <a:latin typeface="Vazirmatn" pitchFamily="2" charset="-78"/>
                <a:cs typeface="+mj-cs"/>
              </a:rPr>
              <a:t> عدم زیرساخت کامل بازار واقعی معاملات توکن ‌های کربن و گواهی‌ ها در کشور.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نیاز به کالیبراسیون گسترده‌تر:</a:t>
            </a:r>
            <a:r>
              <a:rPr lang="fa-IR" sz="1200" dirty="0">
                <a:latin typeface="Vazirmatn" pitchFamily="2" charset="-78"/>
                <a:cs typeface="+mj-cs"/>
              </a:rPr>
              <a:t> لزوم توسعه نمونه‌های پایلوت در اقلیم‌های مختلف ایران جهت افزایش دقت موتور پیش‌بینی. (هر چند در این پروژه سعی شد سه نوع اقلیم شهر تهران، شهرک صنعتی حاشیه تهران و اقلیم مازندران که تابش کمتری دارد مورد توجه قرار بگیرد.)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4772B-9F87-CFBA-9EAF-A05823CF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60679F44-4BC3-15AD-3D96-D1282FA7D042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جمع‌بندی نهایی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DADC5C9D-09E9-CCDF-1F53-230F94D1307F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EDA17497-3069-B4B3-7FF9-E87AE9E9C665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BF617E9B-D3DB-7CF7-F3D1-20D4402A0BFD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دستاوردها، محدودیت ها و چشم انداز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Bullets card">
            <a:extLst>
              <a:ext uri="{FF2B5EF4-FFF2-40B4-BE49-F238E27FC236}">
                <a16:creationId xmlns:a16="http://schemas.microsoft.com/office/drawing/2014/main" id="{18339AC6-F8A9-8613-04DB-A6509AD34794}"/>
              </a:ext>
            </a:extLst>
          </p:cNvPr>
          <p:cNvSpPr/>
          <p:nvPr/>
        </p:nvSpPr>
        <p:spPr>
          <a:xfrm>
            <a:off x="457200" y="1874520"/>
            <a:ext cx="82296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>
            <a:extLst>
              <a:ext uri="{FF2B5EF4-FFF2-40B4-BE49-F238E27FC236}">
                <a16:creationId xmlns:a16="http://schemas.microsoft.com/office/drawing/2014/main" id="{730BA424-B9CB-D482-1979-D514824C079B}"/>
              </a:ext>
            </a:extLst>
          </p:cNvPr>
          <p:cNvSpPr txBox="1"/>
          <p:nvPr/>
        </p:nvSpPr>
        <p:spPr>
          <a:xfrm>
            <a:off x="528320" y="2011680"/>
            <a:ext cx="8021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3- برنامه‌های توسعه و گام‌های آینده (چشم‌انداز)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تجاری‌سازی امن:</a:t>
            </a:r>
            <a:r>
              <a:rPr lang="fa-IR" sz="1200" dirty="0">
                <a:latin typeface="Vazirmatn" pitchFamily="2" charset="-78"/>
                <a:cs typeface="+mj-cs"/>
              </a:rPr>
              <a:t> اجرای فاز توسعه تجاری سامانه با بودجه برآوردی تقریبی 500 میلیون تومان و دریافت تاییدیه آزمایشگاهی و تاییدیه رسمی افتا، ساتبا و سازمان بورس.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lvl="0" algn="r" rtl="1">
              <a:lnSpc>
                <a:spcPct val="150000"/>
              </a:lnSpc>
            </a:pPr>
            <a:r>
              <a:rPr lang="fa-IR" sz="1200" b="1" dirty="0">
                <a:latin typeface="Vazirmatn" pitchFamily="2" charset="-78"/>
                <a:cs typeface="+mj-cs"/>
              </a:rPr>
              <a:t>گسترده ‌سازی بازار هدف:</a:t>
            </a:r>
            <a:r>
              <a:rPr lang="fa-IR" sz="1200" dirty="0">
                <a:latin typeface="Vazirmatn" pitchFamily="2" charset="-78"/>
                <a:cs typeface="+mj-cs"/>
              </a:rPr>
              <a:t> اتصال سراسری به تابلو های بورس انرژی و فراهم ‌سازی بستر تهاتر انبوه گواهی ‌های کربن برای صنایع و نیروگاه ‌های کشور.</a:t>
            </a:r>
            <a:endParaRPr lang="en-US" sz="1200" dirty="0">
              <a:latin typeface="Vazirmatn" pitchFamily="2" charset="-78"/>
              <a:cs typeface="+mj-cs"/>
            </a:endParaRPr>
          </a:p>
          <a:p>
            <a:pPr algn="r" rtl="1">
              <a:lnSpc>
                <a:spcPct val="150000"/>
              </a:lnSpc>
            </a:pPr>
            <a:endParaRPr lang="fa-IR" sz="1200" dirty="0">
              <a:latin typeface="Vazirmatn" pitchFamily="2" charset="-78"/>
              <a:cs typeface="+mj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725A449-EB40-7287-DFFD-C83B033CE0A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44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منابع و مراجع</a:t>
            </a:r>
            <a:endParaRPr lang="fa-IR" sz="2000" dirty="0"/>
          </a:p>
        </p:txBody>
      </p:sp>
      <p:sp>
        <p:nvSpPr>
          <p:cNvPr id="4" name="Guide card"/>
          <p:cNvSpPr/>
          <p:nvPr/>
        </p:nvSpPr>
        <p:spPr>
          <a:xfrm>
            <a:off x="457200" y="9936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/>
          <p:cNvSpPr/>
          <p:nvPr/>
        </p:nvSpPr>
        <p:spPr>
          <a:xfrm>
            <a:off x="8631936" y="9936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/>
          <p:cNvSpPr txBox="1"/>
          <p:nvPr/>
        </p:nvSpPr>
        <p:spPr>
          <a:xfrm>
            <a:off x="640080" y="9936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برخی از منابع</a:t>
            </a:r>
            <a:endParaRPr lang="fa-IR" sz="1400" dirty="0">
              <a:latin typeface="Vazirmatn" pitchFamily="2" charset="-78"/>
              <a:cs typeface="+mj-cs"/>
            </a:endParaRPr>
          </a:p>
        </p:txBody>
      </p:sp>
      <p:sp>
        <p:nvSpPr>
          <p:cNvPr id="7" name="Bullets card"/>
          <p:cNvSpPr/>
          <p:nvPr/>
        </p:nvSpPr>
        <p:spPr>
          <a:xfrm>
            <a:off x="457200" y="1775460"/>
            <a:ext cx="8229600" cy="30251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8" name="Prompts"/>
          <p:cNvSpPr txBox="1"/>
          <p:nvPr/>
        </p:nvSpPr>
        <p:spPr>
          <a:xfrm>
            <a:off x="685800" y="1775460"/>
            <a:ext cx="77724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Aghabozorg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M. H., Bidhendi, G. N., Yousefi, H., &amp;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Mehrdadi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N</a:t>
            </a:r>
            <a:r>
              <a:rPr lang="ar-SA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(2024)</a:t>
            </a:r>
            <a:r>
              <a:rPr lang="ar-SA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comprehensive economic and environmental analysis to supply the electricity sector of the MED desalination unit using renewable energies. Journal of Energy Management and Technology, 8(3), 239–249. DOI: 10.22109/jemt.2024.421441.1478</a:t>
            </a:r>
            <a:endParaRPr lang="fa-I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https://www.jemat.org/article_189315_4ab2d0b8523e26c2a93c9876d5a74834.pdf</a:t>
            </a:r>
            <a:endParaRPr lang="en-US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Open-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Meteo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(n.d.). Weather Forecast API Documentation. Available at: 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https://open-meteo.com/en/docs</a:t>
            </a:r>
            <a:endParaRPr lang="en-US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NASA POWER Project. (n.d.). POWER Data Access Viewer and API Documentation. Available at: 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https://power.larc.nasa.gov/docs/services/api</a:t>
            </a:r>
            <a:r>
              <a:rPr lang="ar-SA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/</a:t>
            </a:r>
            <a:endParaRPr lang="fa-I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[4]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(n.d.). </a:t>
            </a:r>
            <a:r>
              <a:rPr lang="en-US" sz="10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Documentation. Available at: </a:t>
            </a: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https://docs.streamlit.io</a:t>
            </a:r>
            <a:r>
              <a:rPr lang="ar-SA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/</a:t>
            </a:r>
            <a:endParaRPr lang="en-US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[5] IEA, CO₂ Emissions in 2023.</a:t>
            </a: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https://www.iea.org/reports/co2-emissions-in-2023</a:t>
            </a:r>
            <a:endParaRPr lang="en-US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[6] IRENA, Renewable Power Generation Costs 2023.</a:t>
            </a: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https://www.irena.org/publications/2024/Sep/Renewable-Power-Generation-Costs-in-2023</a:t>
            </a:r>
            <a:endParaRPr lang="en-US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[7] EPA, GHG Equivalencies Calculator.</a:t>
            </a:r>
          </a:p>
          <a:p>
            <a:pPr>
              <a:lnSpc>
                <a:spcPct val="150000"/>
              </a:lnSpc>
            </a:pPr>
            <a:r>
              <a:rPr lang="en-US" sz="1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https://www.epa.gov/energy/greenhouse-gas-equivalencies-calculator</a:t>
            </a:r>
            <a:endParaRPr lang="en-US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r" rtl="1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fa-IR" altLang="en-US" sz="10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‏</a:t>
            </a:r>
            <a:endParaRPr lang="fa-IR" sz="1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D4A2-1AE6-912E-AA6D-476D5357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252989E6-B18E-EF99-6E8F-EC806183D3B4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a-IR" altLang="en-US" dirty="0"/>
              <a:t>منابع و مراجع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8EDA4DCF-BC8D-E13F-EA71-E20180589813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5DCDDB26-0668-C6DF-9BB3-A4D0D8E75F4A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5DBA19C3-D6D3-0BD2-F0AA-66F125510837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برخی از منابع</a:t>
            </a:r>
            <a:endParaRPr lang="fa-IR" sz="1400" dirty="0"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A0D2B090-CE2E-1139-D8FE-2983FF2FD3FF}"/>
              </a:ext>
            </a:extLst>
          </p:cNvPr>
          <p:cNvSpPr/>
          <p:nvPr/>
        </p:nvSpPr>
        <p:spPr>
          <a:xfrm>
            <a:off x="60960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0" name="Image drop area">
            <a:extLst>
              <a:ext uri="{FF2B5EF4-FFF2-40B4-BE49-F238E27FC236}">
                <a16:creationId xmlns:a16="http://schemas.microsoft.com/office/drawing/2014/main" id="{4AB68D2F-7FCA-F206-2DFD-FF45A5A4271B}"/>
              </a:ext>
            </a:extLst>
          </p:cNvPr>
          <p:cNvSpPr/>
          <p:nvPr/>
        </p:nvSpPr>
        <p:spPr>
          <a:xfrm>
            <a:off x="32766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3" name="Image drop area">
            <a:extLst>
              <a:ext uri="{FF2B5EF4-FFF2-40B4-BE49-F238E27FC236}">
                <a16:creationId xmlns:a16="http://schemas.microsoft.com/office/drawing/2014/main" id="{D000CEB8-BA87-DBA9-2D2C-BECCF69135FF}"/>
              </a:ext>
            </a:extLst>
          </p:cNvPr>
          <p:cNvSpPr/>
          <p:nvPr/>
        </p:nvSpPr>
        <p:spPr>
          <a:xfrm>
            <a:off x="4572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C32D5A2-E3EF-3C8C-3437-B67622D606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1E7A4-01E9-A87D-B819-122F09C52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342" y="1862062"/>
            <a:ext cx="1722118" cy="24356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22636D-3098-CE2C-B5A5-822D63E17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615" y="1868290"/>
            <a:ext cx="1722120" cy="24356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D4615E-AB3D-383E-5A09-D2141FD81C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1874520"/>
            <a:ext cx="1722120" cy="2435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805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7218-1D4C-59EA-3BDA-E511426D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228C35E7-BF9B-275F-064A-EA76EE2E4C20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a-IR" altLang="en-US" dirty="0"/>
              <a:t>منابع و مراجع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2C772136-4B29-A129-40D4-0C4B3BD5F0E5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33E5C020-8032-418F-9585-CEA1704A22D0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EE430CDE-0E4A-61BC-8AF7-C3D9D53AEBC8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برخی از منابع</a:t>
            </a:r>
            <a:endParaRPr lang="fa-IR" sz="1400" dirty="0"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146BA4FE-2750-C5D8-EFD3-5EEE08F10B9B}"/>
              </a:ext>
            </a:extLst>
          </p:cNvPr>
          <p:cNvSpPr/>
          <p:nvPr/>
        </p:nvSpPr>
        <p:spPr>
          <a:xfrm>
            <a:off x="60960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0" name="Image drop area">
            <a:extLst>
              <a:ext uri="{FF2B5EF4-FFF2-40B4-BE49-F238E27FC236}">
                <a16:creationId xmlns:a16="http://schemas.microsoft.com/office/drawing/2014/main" id="{6A5E36A2-EB34-79A0-66F0-35A69C8CD539}"/>
              </a:ext>
            </a:extLst>
          </p:cNvPr>
          <p:cNvSpPr/>
          <p:nvPr/>
        </p:nvSpPr>
        <p:spPr>
          <a:xfrm>
            <a:off x="32766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3" name="Image drop area">
            <a:extLst>
              <a:ext uri="{FF2B5EF4-FFF2-40B4-BE49-F238E27FC236}">
                <a16:creationId xmlns:a16="http://schemas.microsoft.com/office/drawing/2014/main" id="{11C50205-A72A-C818-37D8-C6EEA03609F3}"/>
              </a:ext>
            </a:extLst>
          </p:cNvPr>
          <p:cNvSpPr/>
          <p:nvPr/>
        </p:nvSpPr>
        <p:spPr>
          <a:xfrm>
            <a:off x="457200" y="1874520"/>
            <a:ext cx="2590800" cy="2423160"/>
          </a:xfrm>
          <a:prstGeom prst="roundRect">
            <a:avLst>
              <a:gd name="adj" fmla="val 22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2DE937F-405A-33D2-76C8-FEB78E9125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AFAA75-14B3-3215-8F05-6F39A1C88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925" y="1889174"/>
            <a:ext cx="1702949" cy="24085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B1B756-C4DF-3C5D-E7CE-F3447591F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525" y="1910014"/>
            <a:ext cx="1702949" cy="2408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BB5A0AF-9A9C-7115-4B75-3C6D974F5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46" y="1874520"/>
            <a:ext cx="1850163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327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1CC20-B7E0-4EAF-88B8-B1BB5985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1C8EC438-C985-EC20-AE79-D24AB88FA449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نیروگاه های پایلوت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0E9DFE65-2C65-5B05-D901-F8C75C23C7E8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2B93F142-A9BC-4D71-174B-45A6E093E6D7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61916C37-0F0F-08A2-E8E1-4C00B75F40E5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تصاویر نیروگاه های پایلوت شده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40C6B298-A030-6A6A-1FD6-BD3670F7B7CD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DF871FB4-74D7-C3B2-9DB1-A56FDDADCB65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E142DF3-8ABC-0AE5-DA86-78B5302154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DEB87-979E-919B-B2E5-BCA8ADCBB26E}"/>
              </a:ext>
            </a:extLst>
          </p:cNvPr>
          <p:cNvSpPr txBox="1"/>
          <p:nvPr/>
        </p:nvSpPr>
        <p:spPr>
          <a:xfrm>
            <a:off x="5585772" y="4170194"/>
            <a:ext cx="207467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 rtl="1"/>
            <a:r>
              <a:rPr lang="fa-IR" sz="1200" dirty="0">
                <a:latin typeface="Vazirmatn"/>
                <a:cs typeface="+mj-cs"/>
              </a:rPr>
              <a:t>نیروگاه خانگی 14 کیلوواتی در تهران</a:t>
            </a:r>
            <a:endParaRPr lang="en-US" sz="1200" dirty="0">
              <a:cs typeface="+mj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CCE504-6E4B-4915-ACBB-230148FDE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74520"/>
            <a:ext cx="4092819" cy="23022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9EBA7B-61F8-6D6E-7C68-5D9D4B5A2639}"/>
              </a:ext>
            </a:extLst>
          </p:cNvPr>
          <p:cNvSpPr txBox="1"/>
          <p:nvPr/>
        </p:nvSpPr>
        <p:spPr>
          <a:xfrm>
            <a:off x="5646921" y="4424288"/>
            <a:ext cx="196495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 rtl="1"/>
            <a:r>
              <a:rPr lang="ar-SA" sz="1400" dirty="0">
                <a:solidFill>
                  <a:srgbClr val="C00000"/>
                </a:solidFill>
                <a:latin typeface="Vazirmatn" pitchFamily="2" charset="-78"/>
                <a:cs typeface="+mj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لینک ورود به نرم افزار اینورتر</a:t>
            </a:r>
            <a:endParaRPr lang="en-US" sz="1400" dirty="0">
              <a:solidFill>
                <a:srgbClr val="C00000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4B312C-DD24-77C9-E013-70CE5C8D482E}"/>
              </a:ext>
            </a:extLst>
          </p:cNvPr>
          <p:cNvSpPr txBox="1"/>
          <p:nvPr/>
        </p:nvSpPr>
        <p:spPr>
          <a:xfrm>
            <a:off x="985004" y="4169223"/>
            <a:ext cx="287630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 rtl="1"/>
            <a:r>
              <a:rPr lang="fa-IR" sz="1200" dirty="0">
                <a:latin typeface="Vazirmatn"/>
                <a:cs typeface="+mj-cs"/>
              </a:rPr>
              <a:t>نیروگاه 230 کیلوواتی در شهرک شمس آباد تهران</a:t>
            </a:r>
            <a:endParaRPr lang="en-US" sz="1200" dirty="0"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E32AB0-37AB-3345-2BF3-2F42659E7FFF}"/>
              </a:ext>
            </a:extLst>
          </p:cNvPr>
          <p:cNvSpPr txBox="1"/>
          <p:nvPr/>
        </p:nvSpPr>
        <p:spPr>
          <a:xfrm>
            <a:off x="1449750" y="4429047"/>
            <a:ext cx="194681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 rtl="1"/>
            <a:r>
              <a:rPr lang="ar-SA" sz="1400" dirty="0">
                <a:solidFill>
                  <a:srgbClr val="C00000"/>
                </a:solidFill>
                <a:latin typeface="Vazirmatn" pitchFamily="2" charset="-78"/>
                <a:cs typeface="+mj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لینک ورود به نرم افزار اینورتر</a:t>
            </a:r>
            <a:endParaRPr lang="en-US" sz="1400" dirty="0">
              <a:solidFill>
                <a:srgbClr val="C00000"/>
              </a:solidFill>
              <a:latin typeface="Vazirmatn" pitchFamily="2" charset="-78"/>
              <a:cs typeface="+mj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BE0ADCD-8590-3843-8DE1-2F21F8AB7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48983"/>
            <a:ext cx="3931919" cy="221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10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4A01C-4E4E-CFE7-8F1E-C33B57E2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B48AAB0A-686A-C135-4B88-06817DD8DC25}"/>
              </a:ext>
            </a:extLst>
          </p:cNvPr>
          <p:cNvSpPr>
            <a:spLocks noGrp="1"/>
          </p:cNvSpPr>
          <p:nvPr>
            <p:ph type="title" idx="105" hasCustomPrompt="1"/>
          </p:nvPr>
        </p:nvSpPr>
        <p:spPr>
          <a:xfrm>
            <a:off x="2011680" y="10972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000" b="1" dirty="0">
                <a:solidFill>
                  <a:schemeClr val="tx2"/>
                </a:solidFill>
              </a:rPr>
              <a:t>نیروگاه های پایلوت</a:t>
            </a:r>
            <a:endParaRPr lang="fa-IR" sz="2000" dirty="0"/>
          </a:p>
        </p:txBody>
      </p:sp>
      <p:sp>
        <p:nvSpPr>
          <p:cNvPr id="4" name="Guide card">
            <a:extLst>
              <a:ext uri="{FF2B5EF4-FFF2-40B4-BE49-F238E27FC236}">
                <a16:creationId xmlns:a16="http://schemas.microsoft.com/office/drawing/2014/main" id="{935FC7CF-7811-4AD3-DDA6-2C432C479CC0}"/>
              </a:ext>
            </a:extLst>
          </p:cNvPr>
          <p:cNvSpPr/>
          <p:nvPr/>
        </p:nvSpPr>
        <p:spPr>
          <a:xfrm>
            <a:off x="457200" y="1069848"/>
            <a:ext cx="8229600" cy="621792"/>
          </a:xfrm>
          <a:prstGeom prst="rect">
            <a:avLst/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5" name="Guide accent">
            <a:extLst>
              <a:ext uri="{FF2B5EF4-FFF2-40B4-BE49-F238E27FC236}">
                <a16:creationId xmlns:a16="http://schemas.microsoft.com/office/drawing/2014/main" id="{A6545696-E00F-0585-314E-A682CFC8F11F}"/>
              </a:ext>
            </a:extLst>
          </p:cNvPr>
          <p:cNvSpPr/>
          <p:nvPr/>
        </p:nvSpPr>
        <p:spPr>
          <a:xfrm>
            <a:off x="8631936" y="1069848"/>
            <a:ext cx="54864" cy="62179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Guide text">
            <a:extLst>
              <a:ext uri="{FF2B5EF4-FFF2-40B4-BE49-F238E27FC236}">
                <a16:creationId xmlns:a16="http://schemas.microsoft.com/office/drawing/2014/main" id="{FE43D154-0243-EA08-96EB-B57256D1F900}"/>
              </a:ext>
            </a:extLst>
          </p:cNvPr>
          <p:cNvSpPr txBox="1"/>
          <p:nvPr/>
        </p:nvSpPr>
        <p:spPr>
          <a:xfrm>
            <a:off x="640080" y="106984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fa-IR" altLang="en-US" sz="1400" b="1" dirty="0">
                <a:solidFill>
                  <a:schemeClr val="accent2"/>
                </a:solidFill>
                <a:latin typeface="Vazirmatn" pitchFamily="2" charset="-78"/>
                <a:cs typeface="+mj-cs"/>
              </a:rPr>
              <a:t>تصاویر نیروگاه های پایلوت شده</a:t>
            </a:r>
            <a:endParaRPr lang="fa-IR" sz="1400" b="1" dirty="0">
              <a:solidFill>
                <a:schemeClr val="accent2"/>
              </a:solidFill>
              <a:latin typeface="Vazirmatn" pitchFamily="2" charset="-78"/>
              <a:cs typeface="+mj-cs"/>
            </a:endParaRPr>
          </a:p>
        </p:txBody>
      </p:sp>
      <p:sp>
        <p:nvSpPr>
          <p:cNvPr id="7" name="Image drop area">
            <a:extLst>
              <a:ext uri="{FF2B5EF4-FFF2-40B4-BE49-F238E27FC236}">
                <a16:creationId xmlns:a16="http://schemas.microsoft.com/office/drawing/2014/main" id="{31582A88-B164-E1E0-8254-76B7A8A43627}"/>
              </a:ext>
            </a:extLst>
          </p:cNvPr>
          <p:cNvSpPr/>
          <p:nvPr/>
        </p:nvSpPr>
        <p:spPr>
          <a:xfrm>
            <a:off x="457200" y="1874520"/>
            <a:ext cx="393192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9" name="Bullets card">
            <a:extLst>
              <a:ext uri="{FF2B5EF4-FFF2-40B4-BE49-F238E27FC236}">
                <a16:creationId xmlns:a16="http://schemas.microsoft.com/office/drawing/2014/main" id="{140BA83C-3846-6887-9319-1B8A6F417650}"/>
              </a:ext>
            </a:extLst>
          </p:cNvPr>
          <p:cNvSpPr/>
          <p:nvPr/>
        </p:nvSpPr>
        <p:spPr>
          <a:xfrm>
            <a:off x="4572000" y="1874520"/>
            <a:ext cx="4114800" cy="2834640"/>
          </a:xfrm>
          <a:prstGeom prst="roundRect">
            <a:avLst>
              <a:gd name="adj" fmla="val 1935"/>
            </a:avLst>
          </a:prstGeom>
          <a:solidFill>
            <a:schemeClr val="bg1"/>
          </a:solidFill>
          <a:ln w="9525">
            <a:solidFill>
              <a:srgbClr val="D5DCE7"/>
            </a:solidFill>
            <a:prstDash val="solid"/>
          </a:ln>
        </p:spPr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590E408-5117-089B-987E-B618D693D8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74320" y="48691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FAFD6A-8DBD-AB44-B795-11040FAE1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8690"/>
            <a:ext cx="3805444" cy="26811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D28B52-9B53-2B09-2706-48ACCE75F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115" y="1904114"/>
            <a:ext cx="4014569" cy="225819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CDFDC58-5C78-1560-4220-547B68EEC183}"/>
              </a:ext>
            </a:extLst>
          </p:cNvPr>
          <p:cNvSpPr txBox="1"/>
          <p:nvPr/>
        </p:nvSpPr>
        <p:spPr>
          <a:xfrm>
            <a:off x="5496560" y="4192276"/>
            <a:ext cx="241562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 rtl="1"/>
            <a:r>
              <a:rPr lang="fa-IR" sz="1200" dirty="0">
                <a:latin typeface="Vazirmatn"/>
                <a:cs typeface="+mj-cs"/>
              </a:rPr>
              <a:t>نیروگاه 100 کیلوواتی در سوادکوه مازندران</a:t>
            </a:r>
            <a:endParaRPr lang="en-US" sz="1200" dirty="0">
              <a:cs typeface="+mj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B98111-1042-C355-227F-C9C813E79369}"/>
              </a:ext>
            </a:extLst>
          </p:cNvPr>
          <p:cNvSpPr txBox="1"/>
          <p:nvPr/>
        </p:nvSpPr>
        <p:spPr>
          <a:xfrm>
            <a:off x="5714584" y="4435329"/>
            <a:ext cx="19795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 rtl="1"/>
            <a:r>
              <a:rPr lang="ar-SA" sz="1400" dirty="0">
                <a:solidFill>
                  <a:srgbClr val="C00000"/>
                </a:solidFill>
                <a:latin typeface="Vazirmatn" pitchFamily="2" charset="-78"/>
                <a:cs typeface="+mj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لینک ورود به نرم افزار اینورتر</a:t>
            </a:r>
            <a:endParaRPr lang="en-US" sz="1400" dirty="0">
              <a:solidFill>
                <a:srgbClr val="C00000"/>
              </a:solidFill>
              <a:latin typeface="Vazirmatn" pitchFamily="2" charset="-78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6690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3611880" y="128016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3200" b="1" dirty="0">
                <a:solidFill>
                  <a:schemeClr val="bg1"/>
                </a:solidFill>
              </a:rPr>
              <a:t>از توجه شما سپاسگزارم</a:t>
            </a:r>
            <a:endParaRPr lang="fa-IR" sz="3200" dirty="0"/>
          </a:p>
        </p:txBody>
      </p:sp>
      <p:sp>
        <p:nvSpPr>
          <p:cNvPr id="3" name="Divider"/>
          <p:cNvSpPr/>
          <p:nvPr/>
        </p:nvSpPr>
        <p:spPr>
          <a:xfrm>
            <a:off x="6583680" y="2331720"/>
            <a:ext cx="2103120" cy="36576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QA"/>
          <p:cNvSpPr txBox="1"/>
          <p:nvPr/>
        </p:nvSpPr>
        <p:spPr>
          <a:xfrm>
            <a:off x="3611880" y="2560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2200" dirty="0">
                <a:solidFill>
                  <a:srgbClr val="E3C77A"/>
                </a:solidFill>
              </a:rPr>
              <a:t>پرسش و پاسخ</a:t>
            </a:r>
            <a:endParaRPr lang="fa-IR" sz="2200" dirty="0"/>
          </a:p>
        </p:txBody>
      </p:sp>
      <p:sp>
        <p:nvSpPr>
          <p:cNvPr id="5" name="Footer note"/>
          <p:cNvSpPr txBox="1"/>
          <p:nvPr/>
        </p:nvSpPr>
        <p:spPr>
          <a:xfrm>
            <a:off x="3611880" y="3474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fa-IR" altLang="en-US" sz="1200" dirty="0">
                <a:solidFill>
                  <a:srgbClr val="AEB9CC"/>
                </a:solidFill>
              </a:rPr>
              <a:t>گروه علمی کامپیوتر  |  جشنواره جوان خوارزمی ۱۴۰۵</a:t>
            </a:r>
            <a:endParaRPr lang="fa-IR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harazmi">
  <a:themeElements>
    <a:clrScheme name="Kharazmi">
      <a:dk1>
        <a:srgbClr val="1F2933"/>
      </a:dk1>
      <a:lt1>
        <a:srgbClr val="FFFFFF"/>
      </a:lt1>
      <a:dk2>
        <a:srgbClr val="16294D"/>
      </a:dk2>
      <a:lt2>
        <a:srgbClr val="F3F5F9"/>
      </a:lt2>
      <a:accent1>
        <a:srgbClr val="1E3A66"/>
      </a:accent1>
      <a:accent2>
        <a:srgbClr val="A07722"/>
      </a:accent2>
      <a:accent3>
        <a:srgbClr val="2A7F8E"/>
      </a:accent3>
      <a:accent4>
        <a:srgbClr val="F8F1DE"/>
      </a:accent4>
      <a:accent5>
        <a:srgbClr val="5B6B82"/>
      </a:accent5>
      <a:accent6>
        <a:srgbClr val="D5DCE7"/>
      </a:accent6>
      <a:hlink>
        <a:srgbClr val="1E3A66"/>
      </a:hlink>
      <a:folHlink>
        <a:srgbClr val="5B6B82"/>
      </a:folHlink>
    </a:clrScheme>
    <a:fontScheme name="Kharazmi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3806</Words>
  <Application>Microsoft Office PowerPoint</Application>
  <PresentationFormat>On-screen Show (16:9)</PresentationFormat>
  <Paragraphs>356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Tahoma</vt:lpstr>
      <vt:lpstr>Vazirmatn</vt:lpstr>
      <vt:lpstr>Kharazmi</vt:lpstr>
      <vt:lpstr>PowerPoint Presentation</vt:lpstr>
      <vt:lpstr>مشخصات طرح</vt:lpstr>
      <vt:lpstr>بیان مسئله و چالش</vt:lpstr>
      <vt:lpstr>بیان مسئله و چالش</vt:lpstr>
      <vt:lpstr>اهداف دقیق طرح</vt:lpstr>
      <vt:lpstr>جنبه‌های نوآورانه طرح</vt:lpstr>
      <vt:lpstr>جنبه‌های نوآورانه طرح</vt:lpstr>
      <vt:lpstr>روش اجرای طرح (مواد و روش‌ها)</vt:lpstr>
      <vt:lpstr>روش اجرای طرح (مواد و روش‌ها)</vt:lpstr>
      <vt:lpstr>روش اجرای طرح (مواد و روش‌ها)</vt:lpstr>
      <vt:lpstr>معماری و فناوری‌های به‌کار رفته</vt:lpstr>
      <vt:lpstr>معماری و فناوری‌های به‌کار رفته</vt:lpstr>
      <vt:lpstr>معماری و فناوری‌های به‌کار رفته</vt:lpstr>
      <vt:lpstr>نمایش نرم‌افزار و محیط کاربری</vt:lpstr>
      <vt:lpstr>آزمون و ارزیابی کارایی</vt:lpstr>
      <vt:lpstr>نتایج به‌دست‌آمده</vt:lpstr>
      <vt:lpstr>نتایج به‌دست‌آمده</vt:lpstr>
      <vt:lpstr>مزایای محصول/دستگاه طراحی‌شده</vt:lpstr>
      <vt:lpstr>مزایای محصول/دستگاه طراحی‌شده</vt:lpstr>
      <vt:lpstr>مزایای محصول/دستگاه طراحی‌شده</vt:lpstr>
      <vt:lpstr>توجیه اقتصادی و اثربخشی محصول/دستگاه</vt:lpstr>
      <vt:lpstr>گواهی‌ها و تأییدیه‌های اخذ‌شده</vt:lpstr>
      <vt:lpstr>جمع‌بندی نهایی</vt:lpstr>
      <vt:lpstr>جمع‌بندی نهایی</vt:lpstr>
      <vt:lpstr>منابع و مراجع</vt:lpstr>
      <vt:lpstr>منابع و مراجع</vt:lpstr>
      <vt:lpstr>منابع و مراجع</vt:lpstr>
      <vt:lpstr>نیروگاه های پایلوت</vt:lpstr>
      <vt:lpstr>نیروگاه های پایلوت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کامپیوتر - قالب پاورپوینت</dc:title>
  <dc:subject>بیست و هشتمین جشنواره جوان خوارزمی - بخش دانش‌آموزی - ۱۴۰۵</dc:subject>
  <dc:creator>PptxGenJS</dc:creator>
  <cp:lastModifiedBy>Fazlolah Sharbati</cp:lastModifiedBy>
  <cp:revision>23</cp:revision>
  <dcterms:created xsi:type="dcterms:W3CDTF">2026-10-25T21:22:50Z</dcterms:created>
  <dcterms:modified xsi:type="dcterms:W3CDTF">2026-10-29T04:33:38Z</dcterms:modified>
</cp:coreProperties>
</file>